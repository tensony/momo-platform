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pitch: a mobile money platform on AWS whose whole design is about one thing, keeping money correct when requests are replayed, when steps fail halfway, and when many people spend from one wallet at once. The three chips are verified results from the local test run; the AWS evidence comes later in the talk. Replace the bracketed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Every later slide maps back to one of these three guarantees. The brief called this the distinguishing challenge: correctness under failure. Note that each guarantee is enforced by the database itself, not only by application code, and each has an automated proof later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left to right: a client with a Cognito token hits the load balancer, which forwards to stateless API containers. The API starts a Step Functions Express saga and waits for the outcome, so the HTTP response carries the real result. The bottom row is the asynchronous path: when a transaction completes, an event row is written in the same database transaction as the ledger change, then published to SNS and SQS, and consumed by the fraud Lambda. Messages that fail five times land in a dead-letter queue that raises an alarm. A sweep every five minutes publishes any event missed if a process died between commit and publish. The reconciliation Lambda runs on EventBridge schedules and is covered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at least three independently deployable services; we have four runtime services plus a schema-setup function. Each has its own IAM role, so a compromise of one cannot reach the others' permissions. Stress statelessness: identity comes from the JWT on every request and all state lives in Aurora, so ECS can add and remove tasks freely and CodeDeploy can swap whole task sets. The services share one Python package in the repository, but the deployable units are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suggested QLDB for the immutable ledger, but AWS has ended support for it, so it cannot be deployed into a fresh account. We said so in the design document and built the ledger in PostgreSQL instead, with database-level enforcement: triggers that raise an error on update, delete or truncate, revoked privileges as defence in depth, and a per-wallet hash chain so tampering is detectable. A test edits a ledger row with triggers disabled, as a superuser could, and the verifier flags it. We also considered DynamoDB and rejected it for the money path because locking, unique constraints and reconciliation queries would all move into application code. Be upfront about the limit on the slide: this is weaker than QLDB against a superuser who rewrites the whole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the three required proofs. We fire 100 requests with the same Idempotency-Key, in parallel, against the API. The first one wins an insert on the key's primary key and runs the transfer; the other 99 get the stored response with an Idempotent-Replayed header. Even if every application check were bypassed, the ledger has a unique constraint on transaction, step and direction, so a second debit is physically impossible. Be honest that this result is from the local run against PostgreSQL; the same script runs unchanged against the deployed load balancer and the team will show that run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saga reserves the payer's funds into an escrow wallet, runs the fraud check, credits the payee from escrow, then finalizes. Every step is one local database transaction and is idempotent on transaction id plus step name. We inject a crash at each of five points, including the nastiest one: after the credit has committed but before the caller learns of it. Compensation is driven by database state, not by what the orchestrator remembers, so it correctly reverses a credit it never heard about. In every case the payer ends with exactly the balance they started with, the payee is unchanged, escrow is empty and the global integrity checks pass. A control transfer with no fault completes normally. If compensation itself fails after five retries, the execution fails, an alarm fires, and the money sits safely in escrow for an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proof: a payer holds 1,000 units and 50 transfers of 30 each fire at the same moment. Exactly 33 can be funded, so exactly 33 succeed and 17 are rejected, and the payer ends at 10 with the payee up by 990. The script also checks that every historical balance in the ledger is at or above zero, meaning there was never even a momentary overdraft. The mechanism is the lock: both wallet rows are taken with SELECT FOR UPDATE in sorted id order, so concurrent writers queue instead of racing, and a separate test with 200 opposite-direction transfers shows there is no deadlock. For the AWS run the fraud velocity limit is relaxed first so the test measures funds, not fraud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stress. First, there is no static database password anywhere: the application authenticates to Aurora with short-lived IAM tokens, and the only password is the RDS-managed master secret in Secrets Manager, readable by one setup function. Second, authentication is verified correctly, not just present: the API checks the RS256 signature against the pool's keys, pins the algorithm so none or HS256 tokens are rejected, and requires the right issuer, an access token rather than an ID token, our own app client, and an unexpired token. Each failure mode has a unit test. Authorization uses Cognito groups plus ownership checks, so you can only spend from your own wallet. The gitleaks result was measured on the tracked files with no allowlists. Note for the team: the infrastructure is written and checked offline; confirm these controls on the deployed stack during the evidence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gate in the brief is a pipeline stage that blocks deployment: the secret scan over full git history, unit and integration tests with a coverage threshold, the three correctness proofs, and Terraform validation. Only then does the deploy job run, using GitHub OIDC so there are no long-lived AWS keys. Releases are blue/green through CodeDeploy; if the new task set fails its health checks, or the error-rate or unhealthy-host alarms fire during the traffic shift, CodeDeploy rolls back on its own. The team will demonstrate this with the rollback script, which registers a task definition whose health check always fails, starts a deployment, and records that the service is back on the original task definition without anyone touching it. [Add the CodeDeploy rollback screenshot here during the evidence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defined in Terraform and organised exactly around the four golden signals the brief names: latency, traffic, errors and saturation, plus a row of business outcomes and the alarm status. Every log line is JSON and carries the correlation id, which the client can supply or the API generates, and which is echoed back in every response and error body, so a customer can quote one id and support can find the whole story with a single Logs Insights query. There are eight alarms, more than the three required: 5xx rate, p95 latency, unhealthy hosts, dead-letter queue, failed sagas, reconciliation discrepancy, database saturation and unhandled exceptions. The first two also gate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is a transfer request that ends in either a completed payment or a clean rejection, with the money where the receipt says it is. 4xx responses are business outcomes such as insufficient funds, so they count as good for availability. The correctness objective is deliberately 100 percent: reconciliation runs hourly and checks that all balances sum to zero, the ledger nets to zero, every step balances, each wallet equals the sum of its entries, every hash chain recomputes, no saga is stuck, and escrow matches in-flight funds. Any discrepancy raises a priority-one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template for the evidence only your AWS account can produce. After deploying, capture: the dashboard while the k6 load test ramps; the ECS running-task count and the scaling activities from scripts/autoscale_evidence.sh; the CodeDeploy deployment that was rolled back by scripts/rollback_demo.sh; and an X-Ray trace plus an alarm e-mail. Drop each image into its dashed panel, or delete the slide if you show the live consoles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the Baseline and 10x columns are modelled from public list prices with stated assumptions, not measured spend. The brief asks for documented actual spend, so after the evidence run open Cost Explorer, group by service, and fill the Actual column. Rows are grouped: Aurora is compute plus storage, I/O and backup; Everything else covers Step Functions, Lambda, CloudWatch, X-Ray, KMS, Secrets Manager, SQS, SNS, S3, CloudTrail and ECR. The headline is that cost grows far slower than load: fixed costs such as the load balancer, NAT gateway and encryption keys are amortised, and compute is elastic. Aurora is about 60 percent of the bill at 10x, so it is the line to watch. What breaks first at 10x is database connections beyond roughly ten API tasks, which is where RDS Proxy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real setting in the Terraform, and each is quantified in the cost model. One: Step Functions Express bills per request and duration rather than per state transition, so at a million transactions a month it is about 1.4 dollars against about 200 for Standard. Two: interface VPC endpoints cost about 131 dollars a month for the nine we would need, more than the NAT traffic they replace at this volume, so we run one NAT gateway with endpoints off by default; the trade-off is a single egress availability zone, which we state openly. Three: Aurora Serverless v2 scales from half an ACU up, against always-on provisioned instances sized for the 10x peak. Four: log retention of 14 days instead of forever, bucket keys, lifecycle tiering and SQS long polling. We also considered Fargate Spot and Graviton and rejected them for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limits plainly is part of the design. The ledger limit is real: QLDB would have protected against a superuser who also recomputes the chain; publishing daily chain heads to write-once storage closes most of that gap. The single NAT gateway was a deliberate cost trade-off. The stretch goals were not built, but the schema already carries a currency per wallet and the fraud rules are pluggable, so each is a contained extension. If asked about infrastructure verification: the Terraform was checked for syntax and references offline and is applied and validated during the AWS evidence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in this order: it mirrors the three guarantees, then delivery, then operations, and each step maps to a script in the repository. Keep the repository README open for the commands. Agree beforehand who runs which step, and have the recorded evidence ready in case the live environment misbehaves. Then take questions; the limits slide is the backup if asked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18518"/>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0241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0331"/>
            <a:ext cx="10566400" cy="4274869"/>
          </a:xfrm>
          <a:prstGeom prst="rect">
            <a:avLst/>
          </a:prstGeom>
          <a:noFill/>
          <a:ln/>
        </p:spPr>
        <p:txBody>
          <a:bodyPr wrap="square" lIns="0" tIns="0" rIns="0" bIns="0" rtlCol="0" anchor="t"/>
          <a:lstStyle>
            <a:lvl1pPr algn="l" indent="0" marL="0">
              <a:lnSpc>
                <a:spcPct val="140000"/>
              </a:lnSpc>
              <a:buNone/>
              <a:defRPr lang="en-US" sz="1600" dirty="0">
                <a:solidFill>
                  <a:srgbClr val="1024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18518"/>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0241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0331"/>
            <a:ext cx="10566400" cy="4274869"/>
          </a:xfrm>
          <a:prstGeom prst="rect">
            <a:avLst/>
          </a:prstGeom>
          <a:noFill/>
          <a:ln/>
        </p:spPr>
        <p:txBody>
          <a:bodyPr wrap="square" lIns="0" tIns="0" rIns="0" bIns="0" rtlCol="0" anchor="t"/>
          <a:lstStyle>
            <a:lvl1pPr algn="l" indent="0" marL="0">
              <a:lnSpc>
                <a:spcPct val="140000"/>
              </a:lnSpc>
              <a:buNone/>
              <a:defRPr lang="en-US" sz="1600" dirty="0">
                <a:solidFill>
                  <a:srgbClr val="1024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1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944F"/>
                </a:solidFill>
                <a:latin typeface="Arial" pitchFamily="34" charset="0"/>
                <a:ea typeface="Arial" pitchFamily="34" charset="-122"/>
                <a:cs typeface="Arial" pitchFamily="34" charset="-120"/>
              </a:rPr>
              <a:t>CLOUD APPLICATION DEVELOPMENT · MINI PROJECT</a:t>
            </a:r>
            <a:endParaRPr lang="en-US" sz="1400" dirty="0"/>
          </a:p>
        </p:txBody>
      </p:sp>
      <p:sp>
        <p:nvSpPr>
          <p:cNvPr id="3" name="Text 1"/>
          <p:cNvSpPr/>
          <p:nvPr>
            <p:ph type="title"/>
          </p:nvPr>
        </p:nvSpPr>
        <p:spPr>
          <a:xfrm>
            <a:off x="812800" y="2001573"/>
            <a:ext cx="10883392" cy="1735270"/>
          </a:xfrm>
          <a:prstGeom prst="rect">
            <a:avLst/>
          </a:prstGeom>
          <a:noFill/>
          <a:ln/>
        </p:spPr>
        <p:txBody>
          <a:bodyPr wrap="square" lIns="0" tIns="0" rIns="0" bIns="0" rtlCol="0" anchor="t">
            <a:normAutofit/>
          </a:bodyPr>
          <a:lstStyle/>
          <a:p>
            <a:pPr algn="l" indent="0" marL="0">
              <a:lnSpc>
                <a:spcPts val="6732"/>
              </a:lnSpc>
              <a:buNone/>
            </a:pPr>
            <a:r>
              <a:rPr lang="en-US" sz="6600" b="1" i="0" dirty="0">
                <a:solidFill>
                  <a:srgbClr val="F4F1E8"/>
                </a:solidFill>
                <a:latin typeface="Arial" pitchFamily="34" charset="0"/>
                <a:ea typeface="Arial" pitchFamily="34" charset="-122"/>
                <a:cs typeface="Arial" pitchFamily="34" charset="-120"/>
              </a:rPr>
              <a:t>Mobile Money</a:t>
            </a:r>
            <a:endParaRPr lang="en-US" sz="6600" dirty="0"/>
          </a:p>
          <a:p>
            <a:pPr algn="l" indent="0" marL="0">
              <a:lnSpc>
                <a:spcPts val="6732"/>
              </a:lnSpc>
              <a:buNone/>
            </a:pPr>
            <a:r>
              <a:rPr lang="en-US" sz="6600" b="1" i="0" dirty="0">
                <a:solidFill>
                  <a:srgbClr val="F4F1E8"/>
                </a:solidFill>
                <a:latin typeface="Arial" pitchFamily="34" charset="0"/>
                <a:ea typeface="Arial" pitchFamily="34" charset="-122"/>
                <a:cs typeface="Arial" pitchFamily="34" charset="-120"/>
              </a:rPr>
              <a:t>on AWS</a:t>
            </a:r>
            <a:endParaRPr lang="en-US" sz="6600" dirty="0"/>
          </a:p>
        </p:txBody>
      </p:sp>
      <p:sp>
        <p:nvSpPr>
          <p:cNvPr id="4" name="Text 2"/>
          <p:cNvSpPr/>
          <p:nvPr/>
        </p:nvSpPr>
        <p:spPr>
          <a:xfrm>
            <a:off x="812800" y="3914643"/>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A9BDB3"/>
                </a:solidFill>
                <a:latin typeface="Arial" pitchFamily="34" charset="0"/>
                <a:ea typeface="Arial" pitchFamily="34" charset="-122"/>
                <a:cs typeface="Arial" pitchFamily="34" charset="-120"/>
              </a:rPr>
              <a:t>Correct under concurrency. Correct under failure.</a:t>
            </a:r>
            <a:endParaRPr lang="en-US" sz="2200" dirty="0"/>
          </a:p>
        </p:txBody>
      </p:sp>
      <p:sp>
        <p:nvSpPr>
          <p:cNvPr id="5" name="Shape 3"/>
          <p:cNvSpPr/>
          <p:nvPr/>
        </p:nvSpPr>
        <p:spPr>
          <a:xfrm>
            <a:off x="815975" y="5206868"/>
            <a:ext cx="2927548" cy="835157"/>
          </a:xfrm>
          <a:prstGeom prst="roundRect">
            <a:avLst>
              <a:gd name="adj" fmla="val 11785"/>
            </a:avLst>
          </a:prstGeom>
          <a:solidFill>
            <a:srgbClr val="1B382E"/>
          </a:solidFill>
          <a:ln w="6350">
            <a:solidFill>
              <a:srgbClr val="2C5545"/>
            </a:solidFill>
            <a:prstDash val="solid"/>
          </a:ln>
        </p:spPr>
      </p:sp>
      <p:sp>
        <p:nvSpPr>
          <p:cNvPr id="6" name="Text 4"/>
          <p:cNvSpPr/>
          <p:nvPr/>
        </p:nvSpPr>
        <p:spPr>
          <a:xfrm>
            <a:off x="1007533" y="5347626"/>
            <a:ext cx="273281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1E8"/>
                </a:solidFill>
                <a:latin typeface="Arial" pitchFamily="34" charset="0"/>
                <a:ea typeface="Arial" pitchFamily="34" charset="-122"/>
                <a:cs typeface="Arial" pitchFamily="34" charset="-120"/>
              </a:rPr>
              <a:t>113 tests · 92% coverage</a:t>
            </a:r>
            <a:endParaRPr lang="en-US" sz="1700" dirty="0"/>
          </a:p>
        </p:txBody>
      </p:sp>
      <p:sp>
        <p:nvSpPr>
          <p:cNvPr id="7" name="Text 5"/>
          <p:cNvSpPr/>
          <p:nvPr/>
        </p:nvSpPr>
        <p:spPr>
          <a:xfrm>
            <a:off x="1007533" y="5687947"/>
            <a:ext cx="262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DB3"/>
                </a:solidFill>
                <a:latin typeface="Arial" pitchFamily="34" charset="0"/>
                <a:ea typeface="Arial" pitchFamily="34" charset="-122"/>
                <a:cs typeface="Arial" pitchFamily="34" charset="-120"/>
              </a:rPr>
              <a:t>verified locally</a:t>
            </a:r>
            <a:endParaRPr lang="en-US" sz="1200" dirty="0"/>
          </a:p>
        </p:txBody>
      </p:sp>
      <p:sp>
        <p:nvSpPr>
          <p:cNvPr id="8" name="Shape 6"/>
          <p:cNvSpPr/>
          <p:nvPr/>
        </p:nvSpPr>
        <p:spPr>
          <a:xfrm>
            <a:off x="3902273" y="5206868"/>
            <a:ext cx="2230768" cy="835157"/>
          </a:xfrm>
          <a:prstGeom prst="roundRect">
            <a:avLst>
              <a:gd name="adj" fmla="val 11785"/>
            </a:avLst>
          </a:prstGeom>
          <a:solidFill>
            <a:srgbClr val="1B382E"/>
          </a:solidFill>
          <a:ln w="6350">
            <a:solidFill>
              <a:srgbClr val="2C5545"/>
            </a:solidFill>
            <a:prstDash val="solid"/>
          </a:ln>
        </p:spPr>
      </p:sp>
      <p:sp>
        <p:nvSpPr>
          <p:cNvPr id="9" name="Text 7"/>
          <p:cNvSpPr/>
          <p:nvPr/>
        </p:nvSpPr>
        <p:spPr>
          <a:xfrm>
            <a:off x="4093832" y="5347626"/>
            <a:ext cx="203603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1E8"/>
                </a:solidFill>
                <a:latin typeface="Arial" pitchFamily="34" charset="0"/>
                <a:ea typeface="Arial" pitchFamily="34" charset="-122"/>
                <a:cs typeface="Arial" pitchFamily="34" charset="-120"/>
              </a:rPr>
              <a:t>3 of 3 proofs pass</a:t>
            </a:r>
            <a:endParaRPr lang="en-US" sz="1700" dirty="0"/>
          </a:p>
        </p:txBody>
      </p:sp>
      <p:sp>
        <p:nvSpPr>
          <p:cNvPr id="10" name="Text 8"/>
          <p:cNvSpPr/>
          <p:nvPr/>
        </p:nvSpPr>
        <p:spPr>
          <a:xfrm>
            <a:off x="4093832" y="5687947"/>
            <a:ext cx="20360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DB3"/>
                </a:solidFill>
                <a:latin typeface="Arial" pitchFamily="34" charset="0"/>
                <a:ea typeface="Arial" pitchFamily="34" charset="-122"/>
                <a:cs typeface="Arial" pitchFamily="34" charset="-120"/>
              </a:rPr>
              <a:t>replay, failure, concurrency</a:t>
            </a:r>
            <a:endParaRPr lang="en-US" sz="1200" dirty="0"/>
          </a:p>
        </p:txBody>
      </p:sp>
      <p:sp>
        <p:nvSpPr>
          <p:cNvPr id="11" name="Shape 9"/>
          <p:cNvSpPr/>
          <p:nvPr/>
        </p:nvSpPr>
        <p:spPr>
          <a:xfrm>
            <a:off x="6291792" y="5206868"/>
            <a:ext cx="2199415" cy="835157"/>
          </a:xfrm>
          <a:prstGeom prst="roundRect">
            <a:avLst>
              <a:gd name="adj" fmla="val 11785"/>
            </a:avLst>
          </a:prstGeom>
          <a:solidFill>
            <a:srgbClr val="1B382E"/>
          </a:solidFill>
          <a:ln w="6350">
            <a:solidFill>
              <a:srgbClr val="2C5545"/>
            </a:solidFill>
            <a:prstDash val="solid"/>
          </a:ln>
        </p:spPr>
      </p:sp>
      <p:sp>
        <p:nvSpPr>
          <p:cNvPr id="12" name="Text 10"/>
          <p:cNvSpPr/>
          <p:nvPr/>
        </p:nvSpPr>
        <p:spPr>
          <a:xfrm>
            <a:off x="6483350" y="5347626"/>
            <a:ext cx="200468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1E8"/>
                </a:solidFill>
                <a:latin typeface="Arial" pitchFamily="34" charset="0"/>
                <a:ea typeface="Arial" pitchFamily="34" charset="-122"/>
                <a:cs typeface="Arial" pitchFamily="34" charset="-120"/>
              </a:rPr>
              <a:t>2 AZs · 5 services</a:t>
            </a:r>
            <a:endParaRPr lang="en-US" sz="1700" dirty="0"/>
          </a:p>
        </p:txBody>
      </p:sp>
      <p:sp>
        <p:nvSpPr>
          <p:cNvPr id="13" name="Text 11"/>
          <p:cNvSpPr/>
          <p:nvPr/>
        </p:nvSpPr>
        <p:spPr>
          <a:xfrm>
            <a:off x="6483350" y="5687947"/>
            <a:ext cx="18707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DB3"/>
                </a:solidFill>
                <a:latin typeface="Arial" pitchFamily="34" charset="0"/>
                <a:ea typeface="Arial" pitchFamily="34" charset="-122"/>
                <a:cs typeface="Arial" pitchFamily="34" charset="-120"/>
              </a:rPr>
              <a:t>defined 100% as code</a:t>
            </a:r>
            <a:endParaRPr lang="en-US" sz="1200" dirty="0"/>
          </a:p>
        </p:txBody>
      </p:sp>
      <p:sp>
        <p:nvSpPr>
          <p:cNvPr id="14" name="Text 12"/>
          <p:cNvSpPr/>
          <p:nvPr/>
        </p:nvSpPr>
        <p:spPr>
          <a:xfrm>
            <a:off x="812800" y="6271287"/>
            <a:ext cx="91567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DB3"/>
                </a:solidFill>
                <a:latin typeface="Arial" pitchFamily="34" charset="0"/>
                <a:ea typeface="Arial" pitchFamily="34" charset="-122"/>
                <a:cs typeface="Arial" pitchFamily="34" charset="-120"/>
              </a:rPr>
              <a:t>[Team member names] · 22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THE BRIEF</a:t>
            </a:r>
            <a:endParaRPr lang="en-US" sz="1300" dirty="0"/>
          </a:p>
        </p:txBody>
      </p:sp>
      <p:sp>
        <p:nvSpPr>
          <p:cNvPr id="3" name="Text 1"/>
          <p:cNvSpPr/>
          <p:nvPr>
            <p:ph type="title"/>
          </p:nvPr>
        </p:nvSpPr>
        <p:spPr>
          <a:xfrm>
            <a:off x="812800" y="101851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Three guarantees the whole design serves</a:t>
            </a:r>
            <a:endParaRPr lang="en-US" sz="3200" dirty="0"/>
          </a:p>
        </p:txBody>
      </p:sp>
      <p:sp>
        <p:nvSpPr>
          <p:cNvPr id="4" name="Shape 2"/>
          <p:cNvSpPr/>
          <p:nvPr/>
        </p:nvSpPr>
        <p:spPr>
          <a:xfrm>
            <a:off x="815975" y="1722703"/>
            <a:ext cx="3380317" cy="4116123"/>
          </a:xfrm>
          <a:prstGeom prst="roundRect">
            <a:avLst>
              <a:gd name="adj" fmla="val 3663"/>
            </a:avLst>
          </a:prstGeom>
          <a:solidFill>
            <a:srgbClr val="FBF9F4"/>
          </a:solidFill>
          <a:ln w="6350">
            <a:solidFill>
              <a:srgbClr val="DDD8CB"/>
            </a:solidFill>
            <a:prstDash val="solid"/>
          </a:ln>
        </p:spPr>
      </p:sp>
      <p:sp>
        <p:nvSpPr>
          <p:cNvPr id="5" name="Text 3"/>
          <p:cNvSpPr/>
          <p:nvPr/>
        </p:nvSpPr>
        <p:spPr>
          <a:xfrm>
            <a:off x="1071033" y="1977761"/>
            <a:ext cx="295630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561A"/>
                </a:solidFill>
                <a:latin typeface="Arial" pitchFamily="34" charset="0"/>
                <a:ea typeface="Arial" pitchFamily="34" charset="-122"/>
                <a:cs typeface="Arial" pitchFamily="34" charset="-120"/>
              </a:rPr>
              <a:t>01 · Idempotency</a:t>
            </a:r>
            <a:endParaRPr lang="en-US" sz="1400" dirty="0"/>
          </a:p>
        </p:txBody>
      </p:sp>
      <p:sp>
        <p:nvSpPr>
          <p:cNvPr id="6" name="Text 4"/>
          <p:cNvSpPr/>
          <p:nvPr/>
        </p:nvSpPr>
        <p:spPr>
          <a:xfrm>
            <a:off x="1071033" y="2353667"/>
            <a:ext cx="2956306" cy="89396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241D"/>
                </a:solidFill>
                <a:latin typeface="Arial" pitchFamily="34" charset="0"/>
                <a:ea typeface="Arial" pitchFamily="34" charset="-122"/>
                <a:cs typeface="Arial" pitchFamily="34" charset="-120"/>
              </a:rPr>
              <a:t>Replay a request 100 times. Money moves once.</a:t>
            </a:r>
            <a:endParaRPr lang="en-US" sz="1900" dirty="0"/>
          </a:p>
        </p:txBody>
      </p:sp>
      <p:sp>
        <p:nvSpPr>
          <p:cNvPr id="7" name="Text 5"/>
          <p:cNvSpPr/>
          <p:nvPr/>
        </p:nvSpPr>
        <p:spPr>
          <a:xfrm>
            <a:off x="1071033" y="3349228"/>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A unique key per request, backed by a unique constraint on every ledger step.</a:t>
            </a:r>
            <a:endParaRPr lang="en-US" sz="1400" dirty="0"/>
          </a:p>
        </p:txBody>
      </p:sp>
      <p:sp>
        <p:nvSpPr>
          <p:cNvPr id="8" name="Shape 6"/>
          <p:cNvSpPr/>
          <p:nvPr/>
        </p:nvSpPr>
        <p:spPr>
          <a:xfrm>
            <a:off x="4405842" y="1722703"/>
            <a:ext cx="3380317" cy="4116123"/>
          </a:xfrm>
          <a:prstGeom prst="roundRect">
            <a:avLst>
              <a:gd name="adj" fmla="val 3663"/>
            </a:avLst>
          </a:prstGeom>
          <a:solidFill>
            <a:srgbClr val="FBF9F4"/>
          </a:solidFill>
          <a:ln w="6350">
            <a:solidFill>
              <a:srgbClr val="DDD8CB"/>
            </a:solidFill>
            <a:prstDash val="solid"/>
          </a:ln>
        </p:spPr>
      </p:sp>
      <p:sp>
        <p:nvSpPr>
          <p:cNvPr id="9" name="Text 7"/>
          <p:cNvSpPr/>
          <p:nvPr/>
        </p:nvSpPr>
        <p:spPr>
          <a:xfrm>
            <a:off x="4660900" y="1977761"/>
            <a:ext cx="295630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561A"/>
                </a:solidFill>
                <a:latin typeface="Arial" pitchFamily="34" charset="0"/>
                <a:ea typeface="Arial" pitchFamily="34" charset="-122"/>
                <a:cs typeface="Arial" pitchFamily="34" charset="-120"/>
              </a:rPr>
              <a:t>02 · Saga compensation</a:t>
            </a:r>
            <a:endParaRPr lang="en-US" sz="1400" dirty="0"/>
          </a:p>
        </p:txBody>
      </p:sp>
      <p:sp>
        <p:nvSpPr>
          <p:cNvPr id="10" name="Text 8"/>
          <p:cNvSpPr/>
          <p:nvPr/>
        </p:nvSpPr>
        <p:spPr>
          <a:xfrm>
            <a:off x="4660900" y="2353667"/>
            <a:ext cx="2956306" cy="60444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241D"/>
                </a:solidFill>
                <a:latin typeface="Arial" pitchFamily="34" charset="0"/>
                <a:ea typeface="Arial" pitchFamily="34" charset="-122"/>
                <a:cs typeface="Arial" pitchFamily="34" charset="-120"/>
              </a:rPr>
              <a:t>A failure halfway creates and destroys no money.</a:t>
            </a:r>
            <a:endParaRPr lang="en-US" sz="1900" dirty="0"/>
          </a:p>
        </p:txBody>
      </p:sp>
      <p:sp>
        <p:nvSpPr>
          <p:cNvPr id="11" name="Text 9"/>
          <p:cNvSpPr/>
          <p:nvPr/>
        </p:nvSpPr>
        <p:spPr>
          <a:xfrm>
            <a:off x="4660900" y="3059708"/>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Reserve, credit, finalize, with state-driven undo steps and a double-entry ledger.</a:t>
            </a:r>
            <a:endParaRPr lang="en-US" sz="1400" dirty="0"/>
          </a:p>
        </p:txBody>
      </p:sp>
      <p:sp>
        <p:nvSpPr>
          <p:cNvPr id="12" name="Shape 10"/>
          <p:cNvSpPr/>
          <p:nvPr/>
        </p:nvSpPr>
        <p:spPr>
          <a:xfrm>
            <a:off x="7995709" y="1722703"/>
            <a:ext cx="3380317" cy="4116123"/>
          </a:xfrm>
          <a:prstGeom prst="roundRect">
            <a:avLst>
              <a:gd name="adj" fmla="val 3663"/>
            </a:avLst>
          </a:prstGeom>
          <a:solidFill>
            <a:srgbClr val="FBF9F4"/>
          </a:solidFill>
          <a:ln w="6350">
            <a:solidFill>
              <a:srgbClr val="DDD8CB"/>
            </a:solidFill>
            <a:prstDash val="solid"/>
          </a:ln>
        </p:spPr>
      </p:sp>
      <p:sp>
        <p:nvSpPr>
          <p:cNvPr id="13" name="Text 11"/>
          <p:cNvSpPr/>
          <p:nvPr/>
        </p:nvSpPr>
        <p:spPr>
          <a:xfrm>
            <a:off x="8250767" y="1977761"/>
            <a:ext cx="295630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561A"/>
                </a:solidFill>
                <a:latin typeface="Arial" pitchFamily="34" charset="0"/>
                <a:ea typeface="Arial" pitchFamily="34" charset="-122"/>
                <a:cs typeface="Arial" pitchFamily="34" charset="-120"/>
              </a:rPr>
              <a:t>03 · Concurrency safety</a:t>
            </a:r>
            <a:endParaRPr lang="en-US" sz="1400" dirty="0"/>
          </a:p>
        </p:txBody>
      </p:sp>
      <p:sp>
        <p:nvSpPr>
          <p:cNvPr id="14" name="Text 12"/>
          <p:cNvSpPr/>
          <p:nvPr/>
        </p:nvSpPr>
        <p:spPr>
          <a:xfrm>
            <a:off x="8250767" y="2353667"/>
            <a:ext cx="2956306" cy="89396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241D"/>
                </a:solidFill>
                <a:latin typeface="Arial" pitchFamily="34" charset="0"/>
                <a:ea typeface="Arial" pitchFamily="34" charset="-122"/>
                <a:cs typeface="Arial" pitchFamily="34" charset="-120"/>
              </a:rPr>
              <a:t>50 simultaneous transfers never overdraw a wallet.</a:t>
            </a:r>
            <a:endParaRPr lang="en-US" sz="1900" dirty="0"/>
          </a:p>
        </p:txBody>
      </p:sp>
      <p:sp>
        <p:nvSpPr>
          <p:cNvPr id="15" name="Text 13"/>
          <p:cNvSpPr/>
          <p:nvPr/>
        </p:nvSpPr>
        <p:spPr>
          <a:xfrm>
            <a:off x="8250767" y="3349228"/>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Row locks taken in a fixed order, and a database check that balance stays at or above zero.</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ARCHITECTURE</a:t>
            </a:r>
            <a:endParaRPr lang="en-US" sz="1300" dirty="0"/>
          </a:p>
        </p:txBody>
      </p:sp>
      <p:sp>
        <p:nvSpPr>
          <p:cNvPr id="3" name="Text 1"/>
          <p:cNvSpPr/>
          <p:nvPr>
            <p:ph type="title"/>
          </p:nvPr>
        </p:nvSpPr>
        <p:spPr>
          <a:xfrm>
            <a:off x="812800" y="10185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Stateless services, one ledger of record</a:t>
            </a:r>
            <a:endParaRPr lang="en-US" sz="3200" dirty="0"/>
          </a:p>
        </p:txBody>
      </p:sp>
      <p:sp>
        <p:nvSpPr>
          <p:cNvPr id="4" name="Text 2"/>
          <p:cNvSpPr/>
          <p:nvPr/>
        </p:nvSpPr>
        <p:spPr>
          <a:xfrm>
            <a:off x="812800" y="1668728"/>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5645C"/>
                </a:solidFill>
                <a:latin typeface="Arial" pitchFamily="34" charset="0"/>
                <a:ea typeface="Arial" pitchFamily="34" charset="-122"/>
                <a:cs typeface="Arial" pitchFamily="34" charset="-120"/>
              </a:rPr>
              <a:t>REQUEST PATH (SYNCHRONOUS)</a:t>
            </a:r>
            <a:endParaRPr lang="en-US" sz="1300" dirty="0"/>
          </a:p>
        </p:txBody>
      </p:sp>
      <p:sp>
        <p:nvSpPr>
          <p:cNvPr id="5" name="Shape 3"/>
          <p:cNvSpPr/>
          <p:nvPr/>
        </p:nvSpPr>
        <p:spPr>
          <a:xfrm>
            <a:off x="815975" y="2208609"/>
            <a:ext cx="1681890" cy="799637"/>
          </a:xfrm>
          <a:prstGeom prst="roundRect">
            <a:avLst>
              <a:gd name="adj" fmla="val 12309"/>
            </a:avLst>
          </a:prstGeom>
          <a:solidFill>
            <a:srgbClr val="FBF9F4"/>
          </a:solidFill>
          <a:ln w="6350">
            <a:solidFill>
              <a:srgbClr val="DDD8CB"/>
            </a:solidFill>
            <a:prstDash val="solid"/>
          </a:ln>
        </p:spPr>
      </p:sp>
      <p:sp>
        <p:nvSpPr>
          <p:cNvPr id="6" name="Text 4"/>
          <p:cNvSpPr/>
          <p:nvPr/>
        </p:nvSpPr>
        <p:spPr>
          <a:xfrm>
            <a:off x="944033" y="2349368"/>
            <a:ext cx="147657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Client</a:t>
            </a:r>
            <a:endParaRPr lang="en-US" sz="1500" dirty="0"/>
          </a:p>
        </p:txBody>
      </p:sp>
      <p:sp>
        <p:nvSpPr>
          <p:cNvPr id="7" name="Text 5"/>
          <p:cNvSpPr/>
          <p:nvPr/>
        </p:nvSpPr>
        <p:spPr>
          <a:xfrm>
            <a:off x="944033" y="2654168"/>
            <a:ext cx="14765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Cognito JWT</a:t>
            </a:r>
            <a:endParaRPr lang="en-US" sz="1200" dirty="0"/>
          </a:p>
        </p:txBody>
      </p:sp>
      <p:pic>
        <p:nvPicPr>
          <p:cNvPr id="8" name="Image 0" descr="arrow-right">    </p:cNvPr>
          <p:cNvPicPr>
            <a:picLocks noChangeAspect="1"/>
          </p:cNvPicPr>
          <p:nvPr/>
        </p:nvPicPr>
        <p:blipFill>
          <a:blip r:embed="rId1"/>
          <a:srcRect l="0" r="0" t="0" b="0"/>
          <a:stretch/>
        </p:blipFill>
        <p:spPr>
          <a:xfrm>
            <a:off x="2628040" y="2519561"/>
            <a:ext cx="279400" cy="177800"/>
          </a:xfrm>
          <a:prstGeom prst="rect">
            <a:avLst/>
          </a:prstGeom>
        </p:spPr>
      </p:pic>
      <p:sp>
        <p:nvSpPr>
          <p:cNvPr id="9" name="Shape 6"/>
          <p:cNvSpPr/>
          <p:nvPr/>
        </p:nvSpPr>
        <p:spPr>
          <a:xfrm>
            <a:off x="3037615" y="2208609"/>
            <a:ext cx="1681956" cy="799637"/>
          </a:xfrm>
          <a:prstGeom prst="roundRect">
            <a:avLst>
              <a:gd name="adj" fmla="val 12309"/>
            </a:avLst>
          </a:prstGeom>
          <a:solidFill>
            <a:srgbClr val="FBF9F4"/>
          </a:solidFill>
          <a:ln w="6350">
            <a:solidFill>
              <a:srgbClr val="DDD8CB"/>
            </a:solidFill>
            <a:prstDash val="solid"/>
          </a:ln>
        </p:spPr>
      </p:sp>
      <p:sp>
        <p:nvSpPr>
          <p:cNvPr id="10" name="Text 7"/>
          <p:cNvSpPr/>
          <p:nvPr/>
        </p:nvSpPr>
        <p:spPr>
          <a:xfrm>
            <a:off x="3165673" y="2349368"/>
            <a:ext cx="14766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ALB</a:t>
            </a:r>
            <a:endParaRPr lang="en-US" sz="1500" dirty="0"/>
          </a:p>
        </p:txBody>
      </p:sp>
      <p:sp>
        <p:nvSpPr>
          <p:cNvPr id="11" name="Text 8"/>
          <p:cNvSpPr/>
          <p:nvPr/>
        </p:nvSpPr>
        <p:spPr>
          <a:xfrm>
            <a:off x="3165673" y="2654168"/>
            <a:ext cx="1476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TLS, 2 AZs</a:t>
            </a:r>
            <a:endParaRPr lang="en-US" sz="1200" dirty="0"/>
          </a:p>
        </p:txBody>
      </p:sp>
      <p:pic>
        <p:nvPicPr>
          <p:cNvPr id="12" name="Image 1" descr="arrow-right">    </p:cNvPr>
          <p:cNvPicPr>
            <a:picLocks noChangeAspect="1"/>
          </p:cNvPicPr>
          <p:nvPr/>
        </p:nvPicPr>
        <p:blipFill>
          <a:blip r:embed="rId2"/>
          <a:srcRect l="0" r="0" t="0" b="0"/>
          <a:stretch/>
        </p:blipFill>
        <p:spPr>
          <a:xfrm>
            <a:off x="4849747" y="2519561"/>
            <a:ext cx="279400" cy="177800"/>
          </a:xfrm>
          <a:prstGeom prst="rect">
            <a:avLst/>
          </a:prstGeom>
        </p:spPr>
      </p:pic>
      <p:sp>
        <p:nvSpPr>
          <p:cNvPr id="13" name="Shape 9"/>
          <p:cNvSpPr/>
          <p:nvPr/>
        </p:nvSpPr>
        <p:spPr>
          <a:xfrm>
            <a:off x="5259322" y="2208609"/>
            <a:ext cx="1681890" cy="799637"/>
          </a:xfrm>
          <a:prstGeom prst="roundRect">
            <a:avLst>
              <a:gd name="adj" fmla="val 12309"/>
            </a:avLst>
          </a:prstGeom>
          <a:solidFill>
            <a:srgbClr val="FBF9F4"/>
          </a:solidFill>
          <a:ln w="6350">
            <a:solidFill>
              <a:srgbClr val="DDD8CB"/>
            </a:solidFill>
            <a:prstDash val="solid"/>
          </a:ln>
        </p:spPr>
      </p:sp>
      <p:sp>
        <p:nvSpPr>
          <p:cNvPr id="14" name="Text 10"/>
          <p:cNvSpPr/>
          <p:nvPr/>
        </p:nvSpPr>
        <p:spPr>
          <a:xfrm>
            <a:off x="5387380" y="2349368"/>
            <a:ext cx="147657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wallet-api</a:t>
            </a:r>
            <a:endParaRPr lang="en-US" sz="1500" dirty="0"/>
          </a:p>
        </p:txBody>
      </p:sp>
      <p:sp>
        <p:nvSpPr>
          <p:cNvPr id="15" name="Text 11"/>
          <p:cNvSpPr/>
          <p:nvPr/>
        </p:nvSpPr>
        <p:spPr>
          <a:xfrm>
            <a:off x="5387380" y="2654168"/>
            <a:ext cx="14765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ECS, 2 to 6 tasks</a:t>
            </a:r>
            <a:endParaRPr lang="en-US" sz="1200" dirty="0"/>
          </a:p>
        </p:txBody>
      </p:sp>
      <p:pic>
        <p:nvPicPr>
          <p:cNvPr id="16" name="Image 2" descr="arrow-right">    </p:cNvPr>
          <p:cNvPicPr>
            <a:picLocks noChangeAspect="1"/>
          </p:cNvPicPr>
          <p:nvPr/>
        </p:nvPicPr>
        <p:blipFill>
          <a:blip r:embed="rId3"/>
          <a:srcRect l="0" r="0" t="0" b="0"/>
          <a:stretch/>
        </p:blipFill>
        <p:spPr>
          <a:xfrm>
            <a:off x="7071387" y="2519561"/>
            <a:ext cx="279400" cy="177800"/>
          </a:xfrm>
          <a:prstGeom prst="rect">
            <a:avLst/>
          </a:prstGeom>
        </p:spPr>
      </p:pic>
      <p:sp>
        <p:nvSpPr>
          <p:cNvPr id="17" name="Shape 12"/>
          <p:cNvSpPr/>
          <p:nvPr/>
        </p:nvSpPr>
        <p:spPr>
          <a:xfrm>
            <a:off x="7480962" y="2208609"/>
            <a:ext cx="1681890" cy="799637"/>
          </a:xfrm>
          <a:prstGeom prst="roundRect">
            <a:avLst>
              <a:gd name="adj" fmla="val 12309"/>
            </a:avLst>
          </a:prstGeom>
          <a:solidFill>
            <a:srgbClr val="FBF9F4"/>
          </a:solidFill>
          <a:ln w="6350">
            <a:solidFill>
              <a:srgbClr val="DDD8CB"/>
            </a:solidFill>
            <a:prstDash val="solid"/>
          </a:ln>
        </p:spPr>
      </p:sp>
      <p:sp>
        <p:nvSpPr>
          <p:cNvPr id="18" name="Text 13"/>
          <p:cNvSpPr/>
          <p:nvPr/>
        </p:nvSpPr>
        <p:spPr>
          <a:xfrm>
            <a:off x="7609020" y="2349368"/>
            <a:ext cx="147657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Saga</a:t>
            </a:r>
            <a:endParaRPr lang="en-US" sz="1500" dirty="0"/>
          </a:p>
        </p:txBody>
      </p:sp>
      <p:sp>
        <p:nvSpPr>
          <p:cNvPr id="19" name="Text 14"/>
          <p:cNvSpPr/>
          <p:nvPr/>
        </p:nvSpPr>
        <p:spPr>
          <a:xfrm>
            <a:off x="7609020" y="2654168"/>
            <a:ext cx="14765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Step Functions</a:t>
            </a:r>
            <a:endParaRPr lang="en-US" sz="1200" dirty="0"/>
          </a:p>
        </p:txBody>
      </p:sp>
      <p:pic>
        <p:nvPicPr>
          <p:cNvPr id="20" name="Image 3" descr="arrow-right">    </p:cNvPr>
          <p:cNvPicPr>
            <a:picLocks noChangeAspect="1"/>
          </p:cNvPicPr>
          <p:nvPr/>
        </p:nvPicPr>
        <p:blipFill>
          <a:blip r:embed="rId4"/>
          <a:srcRect l="0" r="0" t="0" b="0"/>
          <a:stretch/>
        </p:blipFill>
        <p:spPr>
          <a:xfrm>
            <a:off x="9293027" y="2519561"/>
            <a:ext cx="279400" cy="177800"/>
          </a:xfrm>
          <a:prstGeom prst="rect">
            <a:avLst/>
          </a:prstGeom>
        </p:spPr>
      </p:pic>
      <p:sp>
        <p:nvSpPr>
          <p:cNvPr id="21" name="Shape 15"/>
          <p:cNvSpPr/>
          <p:nvPr/>
        </p:nvSpPr>
        <p:spPr>
          <a:xfrm>
            <a:off x="9699427" y="2103041"/>
            <a:ext cx="1679773" cy="1010841"/>
          </a:xfrm>
          <a:prstGeom prst="roundRect">
            <a:avLst>
              <a:gd name="adj" fmla="val 10051"/>
            </a:avLst>
          </a:prstGeom>
          <a:solidFill>
            <a:srgbClr val="10241D"/>
          </a:solidFill>
          <a:ln/>
        </p:spPr>
      </p:sp>
      <p:sp>
        <p:nvSpPr>
          <p:cNvPr id="22" name="Text 16"/>
          <p:cNvSpPr/>
          <p:nvPr/>
        </p:nvSpPr>
        <p:spPr>
          <a:xfrm>
            <a:off x="9826427" y="2242741"/>
            <a:ext cx="147657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1E8"/>
                </a:solidFill>
                <a:latin typeface="Arial" pitchFamily="34" charset="0"/>
                <a:ea typeface="Arial" pitchFamily="34" charset="-122"/>
                <a:cs typeface="Arial" pitchFamily="34" charset="-120"/>
              </a:rPr>
              <a:t>Aurora</a:t>
            </a:r>
            <a:endParaRPr lang="en-US" sz="1500" dirty="0"/>
          </a:p>
        </p:txBody>
      </p:sp>
      <p:sp>
        <p:nvSpPr>
          <p:cNvPr id="23" name="Text 17"/>
          <p:cNvSpPr/>
          <p:nvPr/>
        </p:nvSpPr>
        <p:spPr>
          <a:xfrm>
            <a:off x="9826427" y="2547541"/>
            <a:ext cx="147657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DB3"/>
                </a:solidFill>
                <a:latin typeface="Arial" pitchFamily="34" charset="0"/>
                <a:ea typeface="Arial" pitchFamily="34" charset="-122"/>
                <a:cs typeface="Arial" pitchFamily="34" charset="-120"/>
              </a:rPr>
              <a:t>PostgreSQL, Multi-AZ</a:t>
            </a:r>
            <a:endParaRPr lang="en-US" sz="1200" dirty="0"/>
          </a:p>
        </p:txBody>
      </p:sp>
      <p:sp>
        <p:nvSpPr>
          <p:cNvPr id="24" name="Text 18"/>
          <p:cNvSpPr/>
          <p:nvPr/>
        </p:nvSpPr>
        <p:spPr>
          <a:xfrm>
            <a:off x="812800" y="3317081"/>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5645C"/>
                </a:solidFill>
                <a:latin typeface="Arial" pitchFamily="34" charset="0"/>
                <a:ea typeface="Arial" pitchFamily="34" charset="-122"/>
                <a:cs typeface="Arial" pitchFamily="34" charset="-120"/>
              </a:rPr>
              <a:t>EVENT PATH (ASYNCHRONOUS)</a:t>
            </a:r>
            <a:endParaRPr lang="en-US" sz="1300" dirty="0"/>
          </a:p>
        </p:txBody>
      </p:sp>
      <p:sp>
        <p:nvSpPr>
          <p:cNvPr id="25" name="Shape 19"/>
          <p:cNvSpPr/>
          <p:nvPr/>
        </p:nvSpPr>
        <p:spPr>
          <a:xfrm>
            <a:off x="815975" y="3754571"/>
            <a:ext cx="1680170" cy="799637"/>
          </a:xfrm>
          <a:prstGeom prst="roundRect">
            <a:avLst>
              <a:gd name="adj" fmla="val 12309"/>
            </a:avLst>
          </a:prstGeom>
          <a:solidFill>
            <a:srgbClr val="FBF9F4"/>
          </a:solidFill>
          <a:ln w="6350">
            <a:solidFill>
              <a:srgbClr val="DDD8CB"/>
            </a:solidFill>
            <a:prstDash val="solid"/>
          </a:ln>
        </p:spPr>
      </p:sp>
      <p:sp>
        <p:nvSpPr>
          <p:cNvPr id="26" name="Text 20"/>
          <p:cNvSpPr/>
          <p:nvPr/>
        </p:nvSpPr>
        <p:spPr>
          <a:xfrm>
            <a:off x="944033" y="3895328"/>
            <a:ext cx="14748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Outbox</a:t>
            </a:r>
            <a:endParaRPr lang="en-US" sz="1500" dirty="0"/>
          </a:p>
        </p:txBody>
      </p:sp>
      <p:sp>
        <p:nvSpPr>
          <p:cNvPr id="27" name="Text 21"/>
          <p:cNvSpPr/>
          <p:nvPr/>
        </p:nvSpPr>
        <p:spPr>
          <a:xfrm>
            <a:off x="944033" y="4200128"/>
            <a:ext cx="1474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same transaction</a:t>
            </a:r>
            <a:endParaRPr lang="en-US" sz="1200" dirty="0"/>
          </a:p>
        </p:txBody>
      </p:sp>
      <p:pic>
        <p:nvPicPr>
          <p:cNvPr id="28" name="Image 4" descr="arrow-right">    </p:cNvPr>
          <p:cNvPicPr>
            <a:picLocks noChangeAspect="1"/>
          </p:cNvPicPr>
          <p:nvPr/>
        </p:nvPicPr>
        <p:blipFill>
          <a:blip r:embed="rId5"/>
          <a:srcRect l="0" r="0" t="0" b="0"/>
          <a:stretch/>
        </p:blipFill>
        <p:spPr>
          <a:xfrm>
            <a:off x="2626320" y="4065456"/>
            <a:ext cx="279400" cy="177800"/>
          </a:xfrm>
          <a:prstGeom prst="rect">
            <a:avLst/>
          </a:prstGeom>
        </p:spPr>
      </p:pic>
      <p:sp>
        <p:nvSpPr>
          <p:cNvPr id="29" name="Shape 22"/>
          <p:cNvSpPr/>
          <p:nvPr/>
        </p:nvSpPr>
        <p:spPr>
          <a:xfrm>
            <a:off x="3035895" y="3754571"/>
            <a:ext cx="1680237" cy="799637"/>
          </a:xfrm>
          <a:prstGeom prst="roundRect">
            <a:avLst>
              <a:gd name="adj" fmla="val 12309"/>
            </a:avLst>
          </a:prstGeom>
          <a:solidFill>
            <a:srgbClr val="FBF9F4"/>
          </a:solidFill>
          <a:ln w="6350">
            <a:solidFill>
              <a:srgbClr val="DDD8CB"/>
            </a:solidFill>
            <a:prstDash val="solid"/>
          </a:ln>
        </p:spPr>
      </p:sp>
      <p:sp>
        <p:nvSpPr>
          <p:cNvPr id="30" name="Text 23"/>
          <p:cNvSpPr/>
          <p:nvPr/>
        </p:nvSpPr>
        <p:spPr>
          <a:xfrm>
            <a:off x="3163954" y="3895328"/>
            <a:ext cx="14749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SNS</a:t>
            </a:r>
            <a:endParaRPr lang="en-US" sz="1500" dirty="0"/>
          </a:p>
        </p:txBody>
      </p:sp>
      <p:sp>
        <p:nvSpPr>
          <p:cNvPr id="31" name="Text 24"/>
          <p:cNvSpPr/>
          <p:nvPr/>
        </p:nvSpPr>
        <p:spPr>
          <a:xfrm>
            <a:off x="3163954" y="4200128"/>
            <a:ext cx="1474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txn-events</a:t>
            </a:r>
            <a:endParaRPr lang="en-US" sz="1200" dirty="0"/>
          </a:p>
        </p:txBody>
      </p:sp>
      <p:pic>
        <p:nvPicPr>
          <p:cNvPr id="32" name="Image 5" descr="arrow-right">    </p:cNvPr>
          <p:cNvPicPr>
            <a:picLocks noChangeAspect="1"/>
          </p:cNvPicPr>
          <p:nvPr/>
        </p:nvPicPr>
        <p:blipFill>
          <a:blip r:embed="rId6"/>
          <a:srcRect l="0" r="0" t="0" b="0"/>
          <a:stretch/>
        </p:blipFill>
        <p:spPr>
          <a:xfrm>
            <a:off x="4846307" y="4065456"/>
            <a:ext cx="279400" cy="177800"/>
          </a:xfrm>
          <a:prstGeom prst="rect">
            <a:avLst/>
          </a:prstGeom>
        </p:spPr>
      </p:pic>
      <p:sp>
        <p:nvSpPr>
          <p:cNvPr id="33" name="Shape 25"/>
          <p:cNvSpPr/>
          <p:nvPr/>
        </p:nvSpPr>
        <p:spPr>
          <a:xfrm>
            <a:off x="5255882" y="3754571"/>
            <a:ext cx="1680170" cy="799637"/>
          </a:xfrm>
          <a:prstGeom prst="roundRect">
            <a:avLst>
              <a:gd name="adj" fmla="val 12309"/>
            </a:avLst>
          </a:prstGeom>
          <a:solidFill>
            <a:srgbClr val="FBF9F4"/>
          </a:solidFill>
          <a:ln w="6350">
            <a:solidFill>
              <a:srgbClr val="DDD8CB"/>
            </a:solidFill>
            <a:prstDash val="solid"/>
          </a:ln>
        </p:spPr>
      </p:sp>
      <p:sp>
        <p:nvSpPr>
          <p:cNvPr id="34" name="Text 26"/>
          <p:cNvSpPr/>
          <p:nvPr/>
        </p:nvSpPr>
        <p:spPr>
          <a:xfrm>
            <a:off x="5383940" y="3895328"/>
            <a:ext cx="14748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SQS + DLQ</a:t>
            </a:r>
            <a:endParaRPr lang="en-US" sz="1500" dirty="0"/>
          </a:p>
        </p:txBody>
      </p:sp>
      <p:sp>
        <p:nvSpPr>
          <p:cNvPr id="35" name="Text 27"/>
          <p:cNvSpPr/>
          <p:nvPr/>
        </p:nvSpPr>
        <p:spPr>
          <a:xfrm>
            <a:off x="5383940" y="4200128"/>
            <a:ext cx="1474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5 tries, then alarm</a:t>
            </a:r>
            <a:endParaRPr lang="en-US" sz="1200" dirty="0"/>
          </a:p>
        </p:txBody>
      </p:sp>
      <p:pic>
        <p:nvPicPr>
          <p:cNvPr id="36" name="Image 6" descr="arrow-right">    </p:cNvPr>
          <p:cNvPicPr>
            <a:picLocks noChangeAspect="1"/>
          </p:cNvPicPr>
          <p:nvPr/>
        </p:nvPicPr>
        <p:blipFill>
          <a:blip r:embed="rId7"/>
          <a:srcRect l="0" r="0" t="0" b="0"/>
          <a:stretch/>
        </p:blipFill>
        <p:spPr>
          <a:xfrm>
            <a:off x="7066228" y="4065456"/>
            <a:ext cx="279400" cy="177800"/>
          </a:xfrm>
          <a:prstGeom prst="rect">
            <a:avLst/>
          </a:prstGeom>
        </p:spPr>
      </p:pic>
      <p:sp>
        <p:nvSpPr>
          <p:cNvPr id="37" name="Shape 28"/>
          <p:cNvSpPr/>
          <p:nvPr/>
        </p:nvSpPr>
        <p:spPr>
          <a:xfrm>
            <a:off x="7475803" y="3754571"/>
            <a:ext cx="1680237" cy="799637"/>
          </a:xfrm>
          <a:prstGeom prst="roundRect">
            <a:avLst>
              <a:gd name="adj" fmla="val 12309"/>
            </a:avLst>
          </a:prstGeom>
          <a:solidFill>
            <a:srgbClr val="FBF9F4"/>
          </a:solidFill>
          <a:ln w="6350">
            <a:solidFill>
              <a:srgbClr val="DDD8CB"/>
            </a:solidFill>
            <a:prstDash val="solid"/>
          </a:ln>
        </p:spPr>
      </p:sp>
      <p:sp>
        <p:nvSpPr>
          <p:cNvPr id="38" name="Text 29"/>
          <p:cNvSpPr/>
          <p:nvPr/>
        </p:nvSpPr>
        <p:spPr>
          <a:xfrm>
            <a:off x="7603861" y="3895328"/>
            <a:ext cx="14749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fraud-engine</a:t>
            </a:r>
            <a:endParaRPr lang="en-US" sz="1500" dirty="0"/>
          </a:p>
        </p:txBody>
      </p:sp>
      <p:sp>
        <p:nvSpPr>
          <p:cNvPr id="39" name="Text 30"/>
          <p:cNvSpPr/>
          <p:nvPr/>
        </p:nvSpPr>
        <p:spPr>
          <a:xfrm>
            <a:off x="7603861" y="4200128"/>
            <a:ext cx="1474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Lambda review</a:t>
            </a:r>
            <a:endParaRPr lang="en-US" sz="1200" dirty="0"/>
          </a:p>
        </p:txBody>
      </p:sp>
      <p:pic>
        <p:nvPicPr>
          <p:cNvPr id="40" name="Image 7" descr="arrow-right">    </p:cNvPr>
          <p:cNvPicPr>
            <a:picLocks noChangeAspect="1"/>
          </p:cNvPicPr>
          <p:nvPr/>
        </p:nvPicPr>
        <p:blipFill>
          <a:blip r:embed="rId8"/>
          <a:srcRect l="0" r="0" t="0" b="0"/>
          <a:stretch/>
        </p:blipFill>
        <p:spPr>
          <a:xfrm>
            <a:off x="9286214" y="4065456"/>
            <a:ext cx="279400" cy="177800"/>
          </a:xfrm>
          <a:prstGeom prst="rect">
            <a:avLst/>
          </a:prstGeom>
        </p:spPr>
      </p:pic>
      <p:sp>
        <p:nvSpPr>
          <p:cNvPr id="41" name="Shape 31"/>
          <p:cNvSpPr/>
          <p:nvPr/>
        </p:nvSpPr>
        <p:spPr>
          <a:xfrm>
            <a:off x="9695789" y="3754571"/>
            <a:ext cx="1680237" cy="799637"/>
          </a:xfrm>
          <a:prstGeom prst="roundRect">
            <a:avLst>
              <a:gd name="adj" fmla="val 12309"/>
            </a:avLst>
          </a:prstGeom>
          <a:solidFill>
            <a:srgbClr val="FBF9F4"/>
          </a:solidFill>
          <a:ln w="6350">
            <a:solidFill>
              <a:srgbClr val="DDD8CB"/>
            </a:solidFill>
            <a:prstDash val="solid"/>
          </a:ln>
        </p:spPr>
      </p:sp>
      <p:sp>
        <p:nvSpPr>
          <p:cNvPr id="42" name="Text 32"/>
          <p:cNvSpPr/>
          <p:nvPr/>
        </p:nvSpPr>
        <p:spPr>
          <a:xfrm>
            <a:off x="9823847" y="3895328"/>
            <a:ext cx="14749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41D"/>
                </a:solidFill>
                <a:latin typeface="Arial" pitchFamily="34" charset="0"/>
                <a:ea typeface="Arial" pitchFamily="34" charset="-122"/>
                <a:cs typeface="Arial" pitchFamily="34" charset="-120"/>
              </a:rPr>
              <a:t>Alerts</a:t>
            </a:r>
            <a:endParaRPr lang="en-US" sz="1500" dirty="0"/>
          </a:p>
        </p:txBody>
      </p:sp>
      <p:sp>
        <p:nvSpPr>
          <p:cNvPr id="43" name="Text 33"/>
          <p:cNvSpPr/>
          <p:nvPr/>
        </p:nvSpPr>
        <p:spPr>
          <a:xfrm>
            <a:off x="9823847" y="4200128"/>
            <a:ext cx="1474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fraud_alerts table</a:t>
            </a:r>
            <a:endParaRPr lang="en-US" sz="1200" dirty="0"/>
          </a:p>
        </p:txBody>
      </p:sp>
      <p:sp>
        <p:nvSpPr>
          <p:cNvPr id="44" name="Text 34"/>
          <p:cNvSpPr/>
          <p:nvPr/>
        </p:nvSpPr>
        <p:spPr>
          <a:xfrm>
            <a:off x="812800" y="4760582"/>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Services and database sit in private subnets across two Availability Zones. Only the load balancer is public.</a:t>
            </a:r>
            <a:endParaRPr lang="en-US" sz="1400" dirty="0"/>
          </a:p>
        </p:txBody>
      </p:sp>
      <p:sp>
        <p:nvSpPr>
          <p:cNvPr id="45" name="Text 3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ARCHITECTURE</a:t>
            </a:r>
            <a:endParaRPr lang="en-US" sz="1300" dirty="0"/>
          </a:p>
        </p:txBody>
      </p:sp>
      <p:sp>
        <p:nvSpPr>
          <p:cNvPr id="3" name="Text 1"/>
          <p:cNvSpPr/>
          <p:nvPr>
            <p:ph type="title"/>
          </p:nvPr>
        </p:nvSpPr>
        <p:spPr>
          <a:xfrm>
            <a:off x="812800" y="10185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Five independently deployable services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28"/>
          <a:ext cx="10553700" cy="2315766"/>
        </p:xfrm>
        <a:graphic>
          <a:graphicData uri="http://schemas.openxmlformats.org/drawingml/2006/table">
            <a:tbl>
              <a:tblPr/>
              <a:tblGrid>
                <a:gridCol w="2216277"/>
                <a:gridCol w="2005203"/>
                <a:gridCol w="3588258"/>
                <a:gridCol w="2743962"/>
              </a:tblGrid>
              <a:tr h="385961">
                <a:tc>
                  <a:txBody>
                    <a:bodyPr/>
                    <a:lstStyle/>
                    <a:p>
                      <a:pPr indent="0" marL="0">
                        <a:lnSpc>
                          <a:spcPts val="1960"/>
                        </a:lnSpc>
                        <a:buNone/>
                      </a:pPr>
                      <a:r>
                        <a:rPr lang="en-US" sz="1400" b="1" dirty="0">
                          <a:solidFill>
                            <a:srgbClr val="17251F"/>
                          </a:solidFill>
                          <a:latin typeface="Arial" pitchFamily="34" charset="0"/>
                          <a:ea typeface="Arial" pitchFamily="34" charset="-122"/>
                          <a:cs typeface="Arial" pitchFamily="34" charset="-120"/>
                        </a:rPr>
                        <a:t>Service</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7251F"/>
                          </a:solidFill>
                          <a:latin typeface="Arial" pitchFamily="34" charset="0"/>
                          <a:ea typeface="Arial" pitchFamily="34" charset="-122"/>
                          <a:cs typeface="Arial" pitchFamily="34" charset="-120"/>
                        </a:rPr>
                        <a:t>Runtime</a:t>
                      </a:r>
                      <a:endParaRPr lang="en-US" sz="1400" dirty="0">
                        <a:latin typeface="Arial" charset="0"/>
                        <a:ea typeface="Arial" charset="0"/>
                        <a:cs typeface="Arial"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7251F"/>
                          </a:solidFill>
                          <a:latin typeface="Arial" pitchFamily="34" charset="0"/>
                          <a:ea typeface="Arial" pitchFamily="34" charset="-122"/>
                          <a:cs typeface="Arial" pitchFamily="34" charset="-120"/>
                        </a:rPr>
                        <a:t>Triggered by</a:t>
                      </a:r>
                      <a:endParaRPr lang="en-US" sz="1400" dirty="0">
                        <a:latin typeface="Arial" charset="0"/>
                        <a:ea typeface="Arial" charset="0"/>
                        <a:cs typeface="Arial"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7251F"/>
                          </a:solidFill>
                          <a:latin typeface="Arial" pitchFamily="34" charset="0"/>
                          <a:ea typeface="Arial" pitchFamily="34" charset="-122"/>
                          <a:cs typeface="Arial" pitchFamily="34" charset="-120"/>
                        </a:rPr>
                        <a:t>Deployed as</a:t>
                      </a:r>
                      <a:endParaRPr lang="en-US" sz="1400" dirty="0">
                        <a:latin typeface="Arial" charset="0"/>
                        <a:ea typeface="Arial" charset="0"/>
                        <a:cs typeface="Arial"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5961">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wallet-api</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ECS Fargate</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ALB over HTTPS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Container image, blue/green</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saga-steps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Lambda</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Step Functions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saga-steps.zip</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fraud-engine</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Lambda</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Step Functions and SQS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fraud-engine.zip</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reconciliation</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Lambda</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EventBridge schedules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reconciliation.zip</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db-init</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Lambda</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Terraform, on schema change</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db-init.zip</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251193"/>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45C"/>
                </a:solidFill>
                <a:latin typeface="Arial" pitchFamily="34" charset="0"/>
                <a:ea typeface="Arial" pitchFamily="34" charset="-122"/>
                <a:cs typeface="Arial" pitchFamily="34" charset="-120"/>
              </a:rPr>
              <a:t>Each service has its own IAM role, its own log group and its own artifact. The API holds no session and no local state, so any task can serve any request.</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DATA STORE</a:t>
            </a:r>
            <a:endParaRPr lang="en-US" sz="1300" dirty="0"/>
          </a:p>
        </p:txBody>
      </p:sp>
      <p:sp>
        <p:nvSpPr>
          <p:cNvPr id="3" name="Text 1"/>
          <p:cNvSpPr/>
          <p:nvPr>
            <p:ph type="title"/>
          </p:nvPr>
        </p:nvSpPr>
        <p:spPr>
          <a:xfrm>
            <a:off x="812800" y="10185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Aurora PostgreSQL, and why not QLDB</a:t>
            </a:r>
            <a:endParaRPr lang="en-US" sz="3200" dirty="0"/>
          </a:p>
        </p:txBody>
      </p:sp>
      <p:sp>
        <p:nvSpPr>
          <p:cNvPr id="4" name="Shape 2"/>
          <p:cNvSpPr/>
          <p:nvPr/>
        </p:nvSpPr>
        <p:spPr>
          <a:xfrm>
            <a:off x="815975" y="1697304"/>
            <a:ext cx="5179483" cy="3681809"/>
          </a:xfrm>
          <a:prstGeom prst="roundRect">
            <a:avLst>
              <a:gd name="adj" fmla="val 3363"/>
            </a:avLst>
          </a:prstGeom>
          <a:solidFill>
            <a:srgbClr val="FBF9F4"/>
          </a:solidFill>
          <a:ln w="6350">
            <a:solidFill>
              <a:srgbClr val="DDD8CB"/>
            </a:solidFill>
            <a:prstDash val="solid"/>
          </a:ln>
        </p:spPr>
      </p:sp>
      <p:sp>
        <p:nvSpPr>
          <p:cNvPr id="5" name="Text 3"/>
          <p:cNvSpPr/>
          <p:nvPr/>
        </p:nvSpPr>
        <p:spPr>
          <a:xfrm>
            <a:off x="1071033" y="1952361"/>
            <a:ext cx="4809448"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1D"/>
                </a:solidFill>
                <a:latin typeface="Arial" pitchFamily="34" charset="0"/>
                <a:ea typeface="Arial" pitchFamily="34" charset="-122"/>
                <a:cs typeface="Arial" pitchFamily="34" charset="-120"/>
              </a:rPr>
              <a:t>The access patterns need a relational store</a:t>
            </a:r>
            <a:endParaRPr lang="en-US" sz="1800" dirty="0"/>
          </a:p>
        </p:txBody>
      </p:sp>
      <p:sp>
        <p:nvSpPr>
          <p:cNvPr id="6" name="Text 4"/>
          <p:cNvSpPr/>
          <p:nvPr/>
        </p:nvSpPr>
        <p:spPr>
          <a:xfrm>
            <a:off x="1161584" y="2627976"/>
            <a:ext cx="4711277" cy="1894152"/>
          </a:xfrm>
          <a:prstGeom prst="rect">
            <a:avLst/>
          </a:prstGeom>
          <a:noFill/>
          <a:ln/>
        </p:spPr>
        <p:txBody>
          <a:bodyPr wrap="square" lIns="0" tIns="0" rIns="0" bIns="0" rtlCol="0" anchor="t">
            <a:normAutofit/>
          </a:bodyPr>
          <a:lstStyle/>
          <a:p>
            <a:pPr algn="l" marL="163449" indent="-163449">
              <a:lnSpc>
                <a:spcPts val="2103"/>
              </a:lnSpc>
              <a:buSzPct val="100000"/>
              <a:buChar char="•"/>
            </a:pPr>
            <a:r>
              <a:rPr lang="en-US" sz="1450" b="1" dirty="0">
                <a:solidFill>
                  <a:srgbClr val="17251F"/>
                </a:solidFill>
                <a:latin typeface="Arial" pitchFamily="34" charset="0"/>
                <a:ea typeface="Arial" pitchFamily="34" charset="-122"/>
                <a:cs typeface="Arial" pitchFamily="34" charset="-120"/>
              </a:rPr>
              <a:t>Move money atomically:</a:t>
            </a:r>
            <a:r>
              <a:rPr lang="en-US" sz="1450" dirty="0">
                <a:solidFill>
                  <a:srgbClr val="17251F"/>
                </a:solidFill>
                <a:latin typeface="Arial" pitchFamily="34" charset="0"/>
                <a:ea typeface="Arial" pitchFamily="34" charset="-122"/>
                <a:cs typeface="Arial" pitchFamily="34" charset="-120"/>
              </a:rPr>
              <a:t> one ACID transaction covers both balances and both ledger rows</a:t>
            </a:r>
            <a:endParaRPr lang="en-US" sz="1450" dirty="0"/>
          </a:p>
          <a:p>
            <a:pPr algn="l" marL="163449" indent="-163449">
              <a:lnSpc>
                <a:spcPts val="2103"/>
              </a:lnSpc>
              <a:buSzPct val="100000"/>
              <a:buChar char="•"/>
            </a:pPr>
            <a:r>
              <a:rPr lang="en-US" sz="1450" b="1" dirty="0">
                <a:solidFill>
                  <a:srgbClr val="17251F"/>
                </a:solidFill>
                <a:latin typeface="Arial" pitchFamily="34" charset="0"/>
                <a:ea typeface="Arial" pitchFamily="34" charset="-122"/>
                <a:cs typeface="Arial" pitchFamily="34" charset="-120"/>
              </a:rPr>
              <a:t>Serialise 50 debits:</a:t>
            </a:r>
            <a:r>
              <a:rPr lang="en-US" sz="1450" dirty="0">
                <a:solidFill>
                  <a:srgbClr val="17251F"/>
                </a:solidFill>
                <a:latin typeface="Arial" pitchFamily="34" charset="0"/>
                <a:ea typeface="Arial" pitchFamily="34" charset="-122"/>
                <a:cs typeface="Arial" pitchFamily="34" charset="-120"/>
              </a:rPr>
              <a:t> row locks with SELECT FOR UPDATE</a:t>
            </a:r>
            <a:endParaRPr lang="en-US" sz="1450" dirty="0"/>
          </a:p>
          <a:p>
            <a:pPr algn="l" marL="163449" indent="-163449">
              <a:lnSpc>
                <a:spcPts val="2103"/>
              </a:lnSpc>
              <a:buSzPct val="100000"/>
              <a:buChar char="•"/>
            </a:pPr>
            <a:r>
              <a:rPr lang="en-US" sz="1450" b="1" dirty="0">
                <a:solidFill>
                  <a:srgbClr val="17251F"/>
                </a:solidFill>
                <a:latin typeface="Arial" pitchFamily="34" charset="0"/>
                <a:ea typeface="Arial" pitchFamily="34" charset="-122"/>
                <a:cs typeface="Arial" pitchFamily="34" charset="-120"/>
              </a:rPr>
              <a:t>Exactly once:</a:t>
            </a:r>
            <a:r>
              <a:rPr lang="en-US" sz="1450" dirty="0">
                <a:solidFill>
                  <a:srgbClr val="17251F"/>
                </a:solidFill>
                <a:latin typeface="Arial" pitchFamily="34" charset="0"/>
                <a:ea typeface="Arial" pitchFamily="34" charset="-122"/>
                <a:cs typeface="Arial" pitchFamily="34" charset="-120"/>
              </a:rPr>
              <a:t> unique constraints make duplicates impossible</a:t>
            </a:r>
            <a:endParaRPr lang="en-US" sz="1450" dirty="0"/>
          </a:p>
          <a:p>
            <a:pPr algn="l" marL="163449" indent="-163449">
              <a:lnSpc>
                <a:spcPts val="2103"/>
              </a:lnSpc>
              <a:buSzPct val="100000"/>
              <a:buChar char="•"/>
            </a:pPr>
            <a:r>
              <a:rPr lang="en-US" sz="1450" b="1" dirty="0">
                <a:solidFill>
                  <a:srgbClr val="17251F"/>
                </a:solidFill>
                <a:latin typeface="Arial" pitchFamily="34" charset="0"/>
                <a:ea typeface="Arial" pitchFamily="34" charset="-122"/>
                <a:cs typeface="Arial" pitchFamily="34" charset="-120"/>
              </a:rPr>
              <a:t>Reconcile:</a:t>
            </a:r>
            <a:r>
              <a:rPr lang="en-US" sz="1450" dirty="0">
                <a:solidFill>
                  <a:srgbClr val="17251F"/>
                </a:solidFill>
                <a:latin typeface="Arial" pitchFamily="34" charset="0"/>
                <a:ea typeface="Arial" pitchFamily="34" charset="-122"/>
                <a:cs typeface="Arial" pitchFamily="34" charset="-120"/>
              </a:rPr>
              <a:t> set-based SQL over the whole ledger</a:t>
            </a:r>
            <a:endParaRPr lang="en-US" sz="1450" dirty="0"/>
          </a:p>
        </p:txBody>
      </p:sp>
      <p:sp>
        <p:nvSpPr>
          <p:cNvPr id="7" name="Shape 5"/>
          <p:cNvSpPr/>
          <p:nvPr/>
        </p:nvSpPr>
        <p:spPr>
          <a:xfrm>
            <a:off x="6201833" y="1694129"/>
            <a:ext cx="5177367" cy="3688159"/>
          </a:xfrm>
          <a:prstGeom prst="roundRect">
            <a:avLst>
              <a:gd name="adj" fmla="val 3443"/>
            </a:avLst>
          </a:prstGeom>
          <a:solidFill>
            <a:srgbClr val="10241D"/>
          </a:solidFill>
          <a:ln/>
        </p:spPr>
      </p:sp>
      <p:sp>
        <p:nvSpPr>
          <p:cNvPr id="8" name="Text 6"/>
          <p:cNvSpPr/>
          <p:nvPr/>
        </p:nvSpPr>
        <p:spPr>
          <a:xfrm>
            <a:off x="6455833" y="1948129"/>
            <a:ext cx="4809448"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944F"/>
                </a:solidFill>
                <a:latin typeface="Arial" pitchFamily="34" charset="0"/>
                <a:ea typeface="Arial" pitchFamily="34" charset="-122"/>
                <a:cs typeface="Arial" pitchFamily="34" charset="-120"/>
              </a:rPr>
              <a:t>QLDB is discontinued, so the ledger is SQL</a:t>
            </a:r>
            <a:endParaRPr lang="en-US" sz="1800" dirty="0"/>
          </a:p>
        </p:txBody>
      </p:sp>
      <p:sp>
        <p:nvSpPr>
          <p:cNvPr id="9" name="Text 7"/>
          <p:cNvSpPr/>
          <p:nvPr/>
        </p:nvSpPr>
        <p:spPr>
          <a:xfrm>
            <a:off x="6546384" y="2623741"/>
            <a:ext cx="4711277" cy="1894152"/>
          </a:xfrm>
          <a:prstGeom prst="rect">
            <a:avLst/>
          </a:prstGeom>
          <a:noFill/>
          <a:ln/>
        </p:spPr>
        <p:txBody>
          <a:bodyPr wrap="square" lIns="0" tIns="0" rIns="0" bIns="0" rtlCol="0" anchor="t">
            <a:normAutofit/>
          </a:bodyPr>
          <a:lstStyle/>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AWS ended QLDB support in 2025; it cannot deploy into a clean account</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Append-only triggers block UPDATE, DELETE and TRUNCATE</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The app role has those privileges revoked</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A SHA-256 hash chain per wallet exposes any edit</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Corrections are new entries, never edits</a:t>
            </a:r>
            <a:endParaRPr lang="en-US" sz="1450" dirty="0"/>
          </a:p>
        </p:txBody>
      </p:sp>
      <p:sp>
        <p:nvSpPr>
          <p:cNvPr id="10" name="Text 8"/>
          <p:cNvSpPr/>
          <p:nvPr/>
        </p:nvSpPr>
        <p:spPr>
          <a:xfrm>
            <a:off x="812800" y="5610889"/>
            <a:ext cx="113792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45C"/>
                </a:solidFill>
                <a:latin typeface="Arial" pitchFamily="34" charset="0"/>
                <a:ea typeface="Arial" pitchFamily="34" charset="-122"/>
                <a:cs typeface="Arial" pitchFamily="34" charset="-120"/>
              </a:rPr>
              <a:t>Stated limit: a database superuser who recomputes a whole chain could rewrite history. Mitigation: publish chain heads to write-once storage.</a:t>
            </a:r>
            <a:endParaRPr lang="en-US" sz="13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41D"/>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0944F"/>
                </a:solidFill>
                <a:latin typeface="Arial" pitchFamily="34" charset="0"/>
                <a:ea typeface="Arial" pitchFamily="34" charset="-122"/>
                <a:cs typeface="Arial" pitchFamily="34" charset="-120"/>
              </a:rPr>
              <a:t>PROOF 1 OF 3 · IDEMPOTENCY</a:t>
            </a:r>
            <a:endParaRPr lang="en-US" sz="1300" dirty="0"/>
          </a:p>
        </p:txBody>
      </p:sp>
      <p:sp>
        <p:nvSpPr>
          <p:cNvPr id="3" name="Text 1"/>
          <p:cNvSpPr/>
          <p:nvPr>
            <p:ph type="title"/>
          </p:nvPr>
        </p:nvSpPr>
        <p:spPr>
          <a:xfrm>
            <a:off x="812800" y="10185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8"/>
                </a:solidFill>
                <a:latin typeface="Arial" pitchFamily="34" charset="0"/>
                <a:ea typeface="Arial" pitchFamily="34" charset="-122"/>
                <a:cs typeface="Arial" pitchFamily="34" charset="-120"/>
              </a:rPr>
              <a:t>Replay 100 times, debit once</a:t>
            </a:r>
            <a:endParaRPr lang="en-US" sz="3200" dirty="0"/>
          </a:p>
        </p:txBody>
      </p:sp>
      <p:sp>
        <p:nvSpPr>
          <p:cNvPr id="4" name="Text 2"/>
          <p:cNvSpPr/>
          <p:nvPr/>
        </p:nvSpPr>
        <p:spPr>
          <a:xfrm>
            <a:off x="812800" y="2672094"/>
            <a:ext cx="4578350" cy="977900"/>
          </a:xfrm>
          <a:prstGeom prst="rect">
            <a:avLst/>
          </a:prstGeom>
          <a:noFill/>
          <a:ln/>
        </p:spPr>
        <p:txBody>
          <a:bodyPr wrap="none" lIns="0" tIns="0" rIns="0" bIns="0" rtlCol="0" anchor="t">
            <a:normAutofit/>
          </a:bodyPr>
          <a:lstStyle/>
          <a:p>
            <a:pPr algn="l" indent="0" marL="0">
              <a:lnSpc>
                <a:spcPts val="7500"/>
              </a:lnSpc>
              <a:buNone/>
            </a:pPr>
            <a:r>
              <a:rPr lang="en-US" sz="7500" b="1" dirty="0">
                <a:solidFill>
                  <a:srgbClr val="F0944F"/>
                </a:solidFill>
                <a:latin typeface="Courier New" pitchFamily="49" charset="0"/>
                <a:ea typeface="Courier New" pitchFamily="49" charset="-122"/>
                <a:cs typeface="Courier New" pitchFamily="49" charset="-120"/>
              </a:rPr>
              <a:t>100 → 1</a:t>
            </a:r>
            <a:endParaRPr lang="en-US" sz="7500" dirty="0"/>
          </a:p>
        </p:txBody>
      </p:sp>
      <p:sp>
        <p:nvSpPr>
          <p:cNvPr id="5" name="Text 3"/>
          <p:cNvSpPr/>
          <p:nvPr/>
        </p:nvSpPr>
        <p:spPr>
          <a:xfrm>
            <a:off x="812800" y="3751594"/>
            <a:ext cx="457835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A9BDB3"/>
                </a:solidFill>
                <a:latin typeface="Arial" pitchFamily="34" charset="0"/>
                <a:ea typeface="Arial" pitchFamily="34" charset="-122"/>
                <a:cs typeface="Arial" pitchFamily="34" charset="-120"/>
              </a:rPr>
              <a:t>requests sent, debits made</a:t>
            </a:r>
            <a:endParaRPr lang="en-US" sz="1600" dirty="0"/>
          </a:p>
        </p:txBody>
      </p:sp>
      <p:sp>
        <p:nvSpPr>
          <p:cNvPr id="6" name="Text 4"/>
          <p:cNvSpPr/>
          <p:nvPr/>
        </p:nvSpPr>
        <p:spPr>
          <a:xfrm>
            <a:off x="812800" y="4142715"/>
            <a:ext cx="457835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B3"/>
                </a:solidFill>
                <a:latin typeface="Arial" pitchFamily="34" charset="0"/>
                <a:ea typeface="Arial" pitchFamily="34" charset="-122"/>
                <a:cs typeface="Arial" pitchFamily="34" charset="-120"/>
              </a:rPr>
              <a:t>How: Idempotency-Key header, a deterministic transaction id, and a unique constraint on every ledger step.</a:t>
            </a:r>
            <a:endParaRPr lang="en-US" sz="1400" dirty="0"/>
          </a:p>
        </p:txBody>
      </p:sp>
      <p:pic>
        <p:nvPicPr>
          <p:cNvPr id="7" name="Image 0" descr="CheckCircle">    </p:cNvPr>
          <p:cNvPicPr>
            <a:picLocks noChangeAspect="1"/>
          </p:cNvPicPr>
          <p:nvPr/>
        </p:nvPicPr>
        <p:blipFill>
          <a:blip r:embed="rId1"/>
          <a:srcRect l="0" r="0" t="0" b="0"/>
          <a:stretch/>
        </p:blipFill>
        <p:spPr>
          <a:xfrm>
            <a:off x="5664200" y="2694915"/>
            <a:ext cx="279400" cy="279400"/>
          </a:xfrm>
          <a:prstGeom prst="rect">
            <a:avLst/>
          </a:prstGeom>
        </p:spPr>
      </p:pic>
      <p:sp>
        <p:nvSpPr>
          <p:cNvPr id="8" name="Text 5"/>
          <p:cNvSpPr/>
          <p:nvPr/>
        </p:nvSpPr>
        <p:spPr>
          <a:xfrm>
            <a:off x="6070600" y="2710790"/>
            <a:ext cx="592185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1E8"/>
                </a:solidFill>
                <a:latin typeface="Arial" pitchFamily="34" charset="0"/>
                <a:ea typeface="Arial" pitchFamily="34" charset="-122"/>
                <a:cs typeface="Arial" pitchFamily="34" charset="-120"/>
              </a:rPr>
              <a:t>All 100 responses are 201 and name the same transaction</a:t>
            </a:r>
            <a:endParaRPr lang="en-US" sz="1500" dirty="0"/>
          </a:p>
        </p:txBody>
      </p:sp>
      <p:pic>
        <p:nvPicPr>
          <p:cNvPr id="9" name="Image 1" descr="CheckCircle">    </p:cNvPr>
          <p:cNvPicPr>
            <a:picLocks noChangeAspect="1"/>
          </p:cNvPicPr>
          <p:nvPr/>
        </p:nvPicPr>
        <p:blipFill>
          <a:blip r:embed="rId2"/>
          <a:srcRect l="0" r="0" t="0" b="0"/>
          <a:stretch/>
        </p:blipFill>
        <p:spPr>
          <a:xfrm>
            <a:off x="5664200" y="3114015"/>
            <a:ext cx="279400" cy="279400"/>
          </a:xfrm>
          <a:prstGeom prst="rect">
            <a:avLst/>
          </a:prstGeom>
        </p:spPr>
      </p:pic>
      <p:sp>
        <p:nvSpPr>
          <p:cNvPr id="10" name="Text 6"/>
          <p:cNvSpPr/>
          <p:nvPr/>
        </p:nvSpPr>
        <p:spPr>
          <a:xfrm>
            <a:off x="6070600" y="3129890"/>
            <a:ext cx="348202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1E8"/>
                </a:solidFill>
                <a:latin typeface="Arial" pitchFamily="34" charset="0"/>
                <a:ea typeface="Arial" pitchFamily="34" charset="-122"/>
                <a:cs typeface="Arial" pitchFamily="34" charset="-120"/>
              </a:rPr>
              <a:t>One real execution and 99 replays</a:t>
            </a:r>
            <a:endParaRPr lang="en-US" sz="1500" dirty="0"/>
          </a:p>
        </p:txBody>
      </p:sp>
      <p:pic>
        <p:nvPicPr>
          <p:cNvPr id="11" name="Image 2" descr="CheckCircle">    </p:cNvPr>
          <p:cNvPicPr>
            <a:picLocks noChangeAspect="1"/>
          </p:cNvPicPr>
          <p:nvPr/>
        </p:nvPicPr>
        <p:blipFill>
          <a:blip r:embed="rId3"/>
          <a:srcRect l="0" r="0" t="-555" b="-555"/>
          <a:stretch/>
        </p:blipFill>
        <p:spPr>
          <a:xfrm>
            <a:off x="5664200" y="3641065"/>
            <a:ext cx="232370" cy="279400"/>
          </a:xfrm>
          <a:prstGeom prst="rect">
            <a:avLst/>
          </a:prstGeom>
        </p:spPr>
      </p:pic>
      <p:sp>
        <p:nvSpPr>
          <p:cNvPr id="12" name="Text 7"/>
          <p:cNvSpPr/>
          <p:nvPr/>
        </p:nvSpPr>
        <p:spPr>
          <a:xfrm>
            <a:off x="6023570" y="3533115"/>
            <a:ext cx="551629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1E8"/>
                </a:solidFill>
                <a:latin typeface="Arial" pitchFamily="34" charset="0"/>
                <a:ea typeface="Arial" pitchFamily="34" charset="-122"/>
                <a:cs typeface="Arial" pitchFamily="34" charset="-120"/>
              </a:rPr>
              <a:t>Payer debited exactly once: 100,000 to 85,000 for a 15,000 transfer (ngwee)</a:t>
            </a:r>
            <a:endParaRPr lang="en-US" sz="1500" dirty="0"/>
          </a:p>
        </p:txBody>
      </p:sp>
      <p:pic>
        <p:nvPicPr>
          <p:cNvPr id="13" name="Image 3" descr="CheckCircle">    </p:cNvPr>
          <p:cNvPicPr>
            <a:picLocks noChangeAspect="1"/>
          </p:cNvPicPr>
          <p:nvPr/>
        </p:nvPicPr>
        <p:blipFill>
          <a:blip r:embed="rId4"/>
          <a:srcRect l="0" r="0" t="0" b="0"/>
          <a:stretch/>
        </p:blipFill>
        <p:spPr>
          <a:xfrm>
            <a:off x="5664200" y="4168115"/>
            <a:ext cx="279400" cy="279400"/>
          </a:xfrm>
          <a:prstGeom prst="rect">
            <a:avLst/>
          </a:prstGeom>
        </p:spPr>
      </p:pic>
      <p:sp>
        <p:nvSpPr>
          <p:cNvPr id="14" name="Text 8"/>
          <p:cNvSpPr/>
          <p:nvPr/>
        </p:nvSpPr>
        <p:spPr>
          <a:xfrm>
            <a:off x="6070600" y="4183990"/>
            <a:ext cx="40537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1E8"/>
                </a:solidFill>
                <a:latin typeface="Arial" pitchFamily="34" charset="0"/>
                <a:ea typeface="Arial" pitchFamily="34" charset="-122"/>
                <a:cs typeface="Arial" pitchFamily="34" charset="-120"/>
              </a:rPr>
              <a:t>The ledger holds exactly one debit entry</a:t>
            </a:r>
            <a:endParaRPr lang="en-US" sz="1500" dirty="0"/>
          </a:p>
        </p:txBody>
      </p:sp>
      <p:pic>
        <p:nvPicPr>
          <p:cNvPr id="15" name="Image 4" descr="CheckCircle">    </p:cNvPr>
          <p:cNvPicPr>
            <a:picLocks noChangeAspect="1"/>
          </p:cNvPicPr>
          <p:nvPr/>
        </p:nvPicPr>
        <p:blipFill>
          <a:blip r:embed="rId5"/>
          <a:srcRect l="0" r="0" t="0" b="0"/>
          <a:stretch/>
        </p:blipFill>
        <p:spPr>
          <a:xfrm>
            <a:off x="5664200" y="4587215"/>
            <a:ext cx="279400" cy="279400"/>
          </a:xfrm>
          <a:prstGeom prst="rect">
            <a:avLst/>
          </a:prstGeom>
        </p:spPr>
      </p:pic>
      <p:sp>
        <p:nvSpPr>
          <p:cNvPr id="16" name="Text 9"/>
          <p:cNvSpPr/>
          <p:nvPr/>
        </p:nvSpPr>
        <p:spPr>
          <a:xfrm>
            <a:off x="6070600" y="4603090"/>
            <a:ext cx="477353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1E8"/>
                </a:solidFill>
                <a:latin typeface="Arial" pitchFamily="34" charset="0"/>
                <a:ea typeface="Arial" pitchFamily="34" charset="-122"/>
                <a:cs typeface="Arial" pitchFamily="34" charset="-120"/>
              </a:rPr>
              <a:t>Same key with a different body is refused (422)</a:t>
            </a:r>
            <a:endParaRPr lang="en-US" sz="1500" dirty="0"/>
          </a:p>
        </p:txBody>
      </p:sp>
      <p:sp>
        <p:nvSpPr>
          <p:cNvPr id="17"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DB3"/>
                </a:solidFill>
                <a:latin typeface="Arial" pitchFamily="34" charset="0"/>
                <a:ea typeface="Arial" pitchFamily="34" charset="-122"/>
                <a:cs typeface="Arial" pitchFamily="34" charset="-120"/>
              </a:rPr>
              <a:t>Result from scripts/proofs/run_proofs.py, run locally against PostgreSQL. AWS run to follow.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41D"/>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0944F"/>
                </a:solidFill>
                <a:latin typeface="Arial" pitchFamily="34" charset="0"/>
                <a:ea typeface="Arial" pitchFamily="34" charset="-122"/>
                <a:cs typeface="Arial" pitchFamily="34" charset="-120"/>
              </a:rPr>
              <a:t>PROOF 2 OF 3 · SAGA COMPENSATION</a:t>
            </a:r>
            <a:endParaRPr lang="en-US" sz="1300" dirty="0"/>
          </a:p>
        </p:txBody>
      </p:sp>
      <p:sp>
        <p:nvSpPr>
          <p:cNvPr id="3" name="Text 1"/>
          <p:cNvSpPr/>
          <p:nvPr>
            <p:ph type="title"/>
          </p:nvPr>
        </p:nvSpPr>
        <p:spPr>
          <a:xfrm>
            <a:off x="812800" y="10185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8"/>
                </a:solidFill>
                <a:latin typeface="Arial" pitchFamily="34" charset="0"/>
                <a:ea typeface="Arial" pitchFamily="34" charset="-122"/>
                <a:cs typeface="Arial" pitchFamily="34" charset="-120"/>
              </a:rPr>
              <a:t>Crash at any step, funds come back</a:t>
            </a:r>
            <a:endParaRPr lang="en-US" sz="3200" dirty="0"/>
          </a:p>
        </p:txBody>
      </p:sp>
      <p:sp>
        <p:nvSpPr>
          <p:cNvPr id="4" name="Text 2"/>
          <p:cNvSpPr/>
          <p:nvPr/>
        </p:nvSpPr>
        <p:spPr>
          <a:xfrm>
            <a:off x="812800" y="1770726"/>
            <a:ext cx="1066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9BDB3"/>
                </a:solidFill>
                <a:latin typeface="Arial" pitchFamily="34" charset="0"/>
                <a:ea typeface="Arial" pitchFamily="34" charset="-122"/>
                <a:cs typeface="Arial" pitchFamily="34" charset="-120"/>
              </a:rPr>
              <a:t>Forward</a:t>
            </a:r>
            <a:endParaRPr lang="en-US" sz="1300" dirty="0"/>
          </a:p>
        </p:txBody>
      </p:sp>
      <p:sp>
        <p:nvSpPr>
          <p:cNvPr id="5" name="Text 3"/>
          <p:cNvSpPr/>
          <p:nvPr/>
        </p:nvSpPr>
        <p:spPr>
          <a:xfrm>
            <a:off x="1958975" y="1659204"/>
            <a:ext cx="1968500" cy="454223"/>
          </a:xfrm>
          <a:prstGeom prst="roundRect">
            <a:avLst>
              <a:gd name="adj" fmla="val 18873"/>
            </a:avLst>
          </a:prstGeom>
          <a:solidFill>
            <a:srgbClr val="1B382E"/>
          </a:solidFill>
          <a:ln w="6350">
            <a:solidFill>
              <a:srgbClr val="2C5545"/>
            </a:solidFill>
            <a:prstDash val="solid"/>
          </a:ln>
        </p:spPr>
        <p:txBody>
          <a:bodyPr wrap="square" lIns="24941" tIns="77550" rIns="24941" bIns="52150" rtlCol="0" anchor="t">
            <a:normAutofit/>
          </a:bodyPr>
          <a:lstStyle/>
          <a:p>
            <a:pPr algn="ctr" indent="0" marL="0">
              <a:lnSpc>
                <a:spcPts val="1960"/>
              </a:lnSpc>
              <a:buNone/>
            </a:pPr>
            <a:r>
              <a:rPr lang="en-US" sz="1400" b="1" dirty="0">
                <a:solidFill>
                  <a:srgbClr val="F4F1E8"/>
                </a:solidFill>
                <a:latin typeface="Arial" pitchFamily="34" charset="0"/>
                <a:ea typeface="Arial" pitchFamily="34" charset="-122"/>
                <a:cs typeface="Arial" pitchFamily="34" charset="-120"/>
              </a:rPr>
              <a:t>Reserve</a:t>
            </a:r>
            <a:endParaRPr lang="en-US" sz="1400" dirty="0"/>
          </a:p>
        </p:txBody>
      </p:sp>
      <p:pic>
        <p:nvPicPr>
          <p:cNvPr id="6" name="Image 0" descr="arrow-right">    </p:cNvPr>
          <p:cNvPicPr>
            <a:picLocks noChangeAspect="1"/>
          </p:cNvPicPr>
          <p:nvPr/>
        </p:nvPicPr>
        <p:blipFill>
          <a:blip r:embed="rId1"/>
          <a:srcRect l="0" r="0" t="0" b="0"/>
          <a:stretch/>
        </p:blipFill>
        <p:spPr>
          <a:xfrm>
            <a:off x="4057650" y="1803732"/>
            <a:ext cx="254000" cy="165100"/>
          </a:xfrm>
          <a:prstGeom prst="rect">
            <a:avLst/>
          </a:prstGeom>
        </p:spPr>
      </p:pic>
      <p:sp>
        <p:nvSpPr>
          <p:cNvPr id="7" name="Text 4"/>
          <p:cNvSpPr/>
          <p:nvPr/>
        </p:nvSpPr>
        <p:spPr>
          <a:xfrm>
            <a:off x="4441825" y="1659204"/>
            <a:ext cx="1968500" cy="454223"/>
          </a:xfrm>
          <a:prstGeom prst="roundRect">
            <a:avLst>
              <a:gd name="adj" fmla="val 18873"/>
            </a:avLst>
          </a:prstGeom>
          <a:solidFill>
            <a:srgbClr val="1B382E"/>
          </a:solidFill>
          <a:ln w="6350">
            <a:solidFill>
              <a:srgbClr val="2C5545"/>
            </a:solidFill>
            <a:prstDash val="solid"/>
          </a:ln>
        </p:spPr>
        <p:txBody>
          <a:bodyPr wrap="square" lIns="24941" tIns="77550" rIns="24941" bIns="52150" rtlCol="0" anchor="t">
            <a:normAutofit/>
          </a:bodyPr>
          <a:lstStyle/>
          <a:p>
            <a:pPr algn="ctr" indent="0" marL="0">
              <a:lnSpc>
                <a:spcPts val="1960"/>
              </a:lnSpc>
              <a:buNone/>
            </a:pPr>
            <a:r>
              <a:rPr lang="en-US" sz="1400" b="1" dirty="0">
                <a:solidFill>
                  <a:srgbClr val="F4F1E8"/>
                </a:solidFill>
                <a:latin typeface="Arial" pitchFamily="34" charset="0"/>
                <a:ea typeface="Arial" pitchFamily="34" charset="-122"/>
                <a:cs typeface="Arial" pitchFamily="34" charset="-120"/>
              </a:rPr>
              <a:t>Fraud check</a:t>
            </a:r>
            <a:endParaRPr lang="en-US" sz="1400" dirty="0"/>
          </a:p>
        </p:txBody>
      </p:sp>
      <p:pic>
        <p:nvPicPr>
          <p:cNvPr id="8" name="Image 1" descr="arrow-right">    </p:cNvPr>
          <p:cNvPicPr>
            <a:picLocks noChangeAspect="1"/>
          </p:cNvPicPr>
          <p:nvPr/>
        </p:nvPicPr>
        <p:blipFill>
          <a:blip r:embed="rId2"/>
          <a:srcRect l="0" r="0" t="0" b="0"/>
          <a:stretch/>
        </p:blipFill>
        <p:spPr>
          <a:xfrm>
            <a:off x="6540500" y="1803732"/>
            <a:ext cx="254000" cy="165100"/>
          </a:xfrm>
          <a:prstGeom prst="rect">
            <a:avLst/>
          </a:prstGeom>
        </p:spPr>
      </p:pic>
      <p:sp>
        <p:nvSpPr>
          <p:cNvPr id="9" name="Text 5"/>
          <p:cNvSpPr/>
          <p:nvPr/>
        </p:nvSpPr>
        <p:spPr>
          <a:xfrm>
            <a:off x="6924675" y="1659204"/>
            <a:ext cx="1968500" cy="454223"/>
          </a:xfrm>
          <a:prstGeom prst="roundRect">
            <a:avLst>
              <a:gd name="adj" fmla="val 18873"/>
            </a:avLst>
          </a:prstGeom>
          <a:solidFill>
            <a:srgbClr val="1B382E"/>
          </a:solidFill>
          <a:ln w="6350">
            <a:solidFill>
              <a:srgbClr val="2C5545"/>
            </a:solidFill>
            <a:prstDash val="solid"/>
          </a:ln>
        </p:spPr>
        <p:txBody>
          <a:bodyPr wrap="square" lIns="24941" tIns="77550" rIns="24941" bIns="52150" rtlCol="0" anchor="t">
            <a:normAutofit/>
          </a:bodyPr>
          <a:lstStyle/>
          <a:p>
            <a:pPr algn="ctr" indent="0" marL="0">
              <a:lnSpc>
                <a:spcPts val="1960"/>
              </a:lnSpc>
              <a:buNone/>
            </a:pPr>
            <a:r>
              <a:rPr lang="en-US" sz="1400" b="1" dirty="0">
                <a:solidFill>
                  <a:srgbClr val="F4F1E8"/>
                </a:solidFill>
                <a:latin typeface="Arial" pitchFamily="34" charset="0"/>
                <a:ea typeface="Arial" pitchFamily="34" charset="-122"/>
                <a:cs typeface="Arial" pitchFamily="34" charset="-120"/>
              </a:rPr>
              <a:t>Credit</a:t>
            </a:r>
            <a:endParaRPr lang="en-US" sz="1400" dirty="0"/>
          </a:p>
        </p:txBody>
      </p:sp>
      <p:pic>
        <p:nvPicPr>
          <p:cNvPr id="10" name="Image 2" descr="arrow-right">    </p:cNvPr>
          <p:cNvPicPr>
            <a:picLocks noChangeAspect="1"/>
          </p:cNvPicPr>
          <p:nvPr/>
        </p:nvPicPr>
        <p:blipFill>
          <a:blip r:embed="rId3"/>
          <a:srcRect l="0" r="0" t="0" b="0"/>
          <a:stretch/>
        </p:blipFill>
        <p:spPr>
          <a:xfrm>
            <a:off x="9023350" y="1803732"/>
            <a:ext cx="254000" cy="165100"/>
          </a:xfrm>
          <a:prstGeom prst="rect">
            <a:avLst/>
          </a:prstGeom>
        </p:spPr>
      </p:pic>
      <p:sp>
        <p:nvSpPr>
          <p:cNvPr id="11" name="Text 6"/>
          <p:cNvSpPr/>
          <p:nvPr/>
        </p:nvSpPr>
        <p:spPr>
          <a:xfrm>
            <a:off x="9407525" y="1659204"/>
            <a:ext cx="1968500" cy="454223"/>
          </a:xfrm>
          <a:prstGeom prst="roundRect">
            <a:avLst>
              <a:gd name="adj" fmla="val 18873"/>
            </a:avLst>
          </a:prstGeom>
          <a:solidFill>
            <a:srgbClr val="1B382E"/>
          </a:solidFill>
          <a:ln w="6350">
            <a:solidFill>
              <a:srgbClr val="2C5545"/>
            </a:solidFill>
            <a:prstDash val="solid"/>
          </a:ln>
        </p:spPr>
        <p:txBody>
          <a:bodyPr wrap="square" lIns="24941" tIns="77550" rIns="24941" bIns="52150" rtlCol="0" anchor="t">
            <a:normAutofit/>
          </a:bodyPr>
          <a:lstStyle/>
          <a:p>
            <a:pPr algn="ctr" indent="0" marL="0">
              <a:lnSpc>
                <a:spcPts val="1960"/>
              </a:lnSpc>
              <a:buNone/>
            </a:pPr>
            <a:r>
              <a:rPr lang="en-US" sz="1400" b="1" dirty="0">
                <a:solidFill>
                  <a:srgbClr val="F4F1E8"/>
                </a:solidFill>
                <a:latin typeface="Arial" pitchFamily="34" charset="0"/>
                <a:ea typeface="Arial" pitchFamily="34" charset="-122"/>
                <a:cs typeface="Arial" pitchFamily="34" charset="-120"/>
              </a:rPr>
              <a:t>Finalize</a:t>
            </a:r>
            <a:endParaRPr lang="en-US" sz="1400" dirty="0"/>
          </a:p>
        </p:txBody>
      </p:sp>
      <p:sp>
        <p:nvSpPr>
          <p:cNvPr id="12" name="Text 7"/>
          <p:cNvSpPr/>
          <p:nvPr/>
        </p:nvSpPr>
        <p:spPr>
          <a:xfrm>
            <a:off x="812800" y="2421799"/>
            <a:ext cx="1066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944F"/>
                </a:solidFill>
                <a:latin typeface="Arial" pitchFamily="34" charset="0"/>
                <a:ea typeface="Arial" pitchFamily="34" charset="-122"/>
                <a:cs typeface="Arial" pitchFamily="34" charset="-120"/>
              </a:rPr>
              <a:t>On failure</a:t>
            </a:r>
            <a:endParaRPr lang="en-US" sz="1300" dirty="0"/>
          </a:p>
        </p:txBody>
      </p:sp>
      <p:sp>
        <p:nvSpPr>
          <p:cNvPr id="13" name="Text 8"/>
          <p:cNvSpPr/>
          <p:nvPr/>
        </p:nvSpPr>
        <p:spPr>
          <a:xfrm>
            <a:off x="1958975" y="2310278"/>
            <a:ext cx="2925895" cy="454223"/>
          </a:xfrm>
          <a:prstGeom prst="roundRect">
            <a:avLst>
              <a:gd name="adj" fmla="val 18873"/>
            </a:avLst>
          </a:prstGeom>
          <a:solidFill>
            <a:srgbClr val="2B1D12"/>
          </a:solidFill>
          <a:ln w="6350">
            <a:solidFill>
              <a:srgbClr val="E07B39"/>
            </a:solidFill>
            <a:prstDash val="solid"/>
          </a:ln>
        </p:spPr>
        <p:txBody>
          <a:bodyPr wrap="square" lIns="10580" tIns="77550" rIns="10580" bIns="52150" rtlCol="0" anchor="t">
            <a:normAutofit/>
          </a:bodyPr>
          <a:lstStyle/>
          <a:p>
            <a:pPr algn="ctr" indent="0" marL="0">
              <a:lnSpc>
                <a:spcPts val="1960"/>
              </a:lnSpc>
              <a:buNone/>
            </a:pPr>
            <a:r>
              <a:rPr lang="en-US" sz="1400" b="1" dirty="0">
                <a:solidFill>
                  <a:srgbClr val="F0944F"/>
                </a:solidFill>
                <a:latin typeface="Arial" pitchFamily="34" charset="0"/>
                <a:ea typeface="Arial" pitchFamily="34" charset="-122"/>
                <a:cs typeface="Arial" pitchFamily="34" charset="-120"/>
              </a:rPr>
              <a:t>Reverse the credit</a:t>
            </a:r>
            <a:endParaRPr lang="en-US" sz="1400" dirty="0"/>
          </a:p>
        </p:txBody>
      </p:sp>
      <p:pic>
        <p:nvPicPr>
          <p:cNvPr id="14" name="Image 3" descr="arrow-right">    </p:cNvPr>
          <p:cNvPicPr>
            <a:picLocks noChangeAspect="1"/>
          </p:cNvPicPr>
          <p:nvPr/>
        </p:nvPicPr>
        <p:blipFill>
          <a:blip r:embed="rId4"/>
          <a:srcRect l="0" r="0" t="0" b="0"/>
          <a:stretch/>
        </p:blipFill>
        <p:spPr>
          <a:xfrm>
            <a:off x="5015045" y="2454805"/>
            <a:ext cx="254000" cy="165100"/>
          </a:xfrm>
          <a:prstGeom prst="rect">
            <a:avLst/>
          </a:prstGeom>
        </p:spPr>
      </p:pic>
      <p:sp>
        <p:nvSpPr>
          <p:cNvPr id="15" name="Text 9"/>
          <p:cNvSpPr/>
          <p:nvPr/>
        </p:nvSpPr>
        <p:spPr>
          <a:xfrm>
            <a:off x="5399220" y="2310278"/>
            <a:ext cx="2925961" cy="454223"/>
          </a:xfrm>
          <a:prstGeom prst="roundRect">
            <a:avLst>
              <a:gd name="adj" fmla="val 18873"/>
            </a:avLst>
          </a:prstGeom>
          <a:solidFill>
            <a:srgbClr val="2B1D12"/>
          </a:solidFill>
          <a:ln w="6350">
            <a:solidFill>
              <a:srgbClr val="E07B39"/>
            </a:solidFill>
            <a:prstDash val="solid"/>
          </a:ln>
        </p:spPr>
        <p:txBody>
          <a:bodyPr wrap="square" lIns="10579" tIns="77550" rIns="10579" bIns="52150" rtlCol="0" anchor="t">
            <a:normAutofit/>
          </a:bodyPr>
          <a:lstStyle/>
          <a:p>
            <a:pPr algn="ctr" indent="0" marL="0">
              <a:lnSpc>
                <a:spcPts val="1960"/>
              </a:lnSpc>
              <a:buNone/>
            </a:pPr>
            <a:r>
              <a:rPr lang="en-US" sz="1400" b="1" dirty="0">
                <a:solidFill>
                  <a:srgbClr val="F0944F"/>
                </a:solidFill>
                <a:latin typeface="Arial" pitchFamily="34" charset="0"/>
                <a:ea typeface="Arial" pitchFamily="34" charset="-122"/>
                <a:cs typeface="Arial" pitchFamily="34" charset="-120"/>
              </a:rPr>
              <a:t>Release the hold</a:t>
            </a:r>
            <a:endParaRPr lang="en-US" sz="1400" dirty="0"/>
          </a:p>
        </p:txBody>
      </p:sp>
      <p:sp>
        <p:nvSpPr>
          <p:cNvPr id="16" name="Text 10"/>
          <p:cNvSpPr/>
          <p:nvPr/>
        </p:nvSpPr>
        <p:spPr>
          <a:xfrm>
            <a:off x="8607756" y="2322779"/>
            <a:ext cx="2854588"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9BDB3"/>
                </a:solidFill>
                <a:latin typeface="Arial" pitchFamily="34" charset="0"/>
                <a:ea typeface="Arial" pitchFamily="34" charset="-122"/>
                <a:cs typeface="Arial" pitchFamily="34" charset="-120"/>
              </a:rPr>
              <a:t>Decided from database state, safe to repeat</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5500" y="2970876"/>
          <a:ext cx="10553700" cy="2235994"/>
        </p:xfrm>
        <a:graphic>
          <a:graphicData uri="http://schemas.openxmlformats.org/drawingml/2006/table">
            <a:tbl>
              <a:tblPr/>
              <a:tblGrid>
                <a:gridCol w="3166110"/>
                <a:gridCol w="3799332"/>
                <a:gridCol w="3588258"/>
              </a:tblGrid>
              <a:tr h="372666">
                <a:tc>
                  <a:txBody>
                    <a:bodyPr/>
                    <a:lstStyle/>
                    <a:p>
                      <a:pPr indent="0" marL="0">
                        <a:lnSpc>
                          <a:spcPts val="1890"/>
                        </a:lnSpc>
                        <a:buNone/>
                      </a:pPr>
                      <a:r>
                        <a:rPr lang="en-US" sz="1350" b="1" dirty="0">
                          <a:solidFill>
                            <a:srgbClr val="F4F1E8"/>
                          </a:solidFill>
                          <a:latin typeface="Arial" pitchFamily="34" charset="0"/>
                          <a:ea typeface="Arial" pitchFamily="34" charset="-122"/>
                          <a:cs typeface="Arial" pitchFamily="34" charset="-120"/>
                        </a:rPr>
                        <a:t>Injected crash</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52605A"/>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52605A"/>
                      </a:solidFill>
                      <a:prstDash val="solid"/>
                      <a:round/>
                      <a:headEnd type="none" w="med" len="med"/>
                      <a:tailEnd type="none" w="med" len="med"/>
                    </a:lnB>
                    <a:solidFill>
                      <a:srgbClr val="23352E"/>
                    </a:solidFill>
                  </a:tcPr>
                </a:tc>
                <a:tc>
                  <a:txBody>
                    <a:bodyPr/>
                    <a:lstStyle/>
                    <a:p>
                      <a:pPr indent="0" marL="0">
                        <a:lnSpc>
                          <a:spcPts val="1890"/>
                        </a:lnSpc>
                        <a:buNone/>
                      </a:pPr>
                      <a:r>
                        <a:rPr lang="en-US" sz="1350" b="1" dirty="0">
                          <a:solidFill>
                            <a:srgbClr val="F4F1E8"/>
                          </a:solidFill>
                          <a:latin typeface="Arial" pitchFamily="34" charset="0"/>
                          <a:ea typeface="Arial" pitchFamily="34" charset="-122"/>
                          <a:cs typeface="Arial" pitchFamily="34" charset="-120"/>
                        </a:rPr>
                        <a:t>Outcome</a:t>
                      </a:r>
                      <a:endParaRPr lang="en-US" sz="1350" dirty="0">
                        <a:latin typeface="Arial" charset="0"/>
                        <a:ea typeface="Arial" charset="0"/>
                        <a:cs typeface="Arial" charset="0"/>
                      </a:endParaRPr>
                    </a:p>
                  </a:txBody>
                  <a:tcPr marL="60007" marR="60007" marT="60007" marB="60007" anchor="t">
                    <a:lnL w="12700" cap="flat" cmpd="sng" algn="ctr">
                      <a:solidFill>
                        <a:srgbClr val="52605A"/>
                      </a:solidFill>
                      <a:prstDash val="solid"/>
                      <a:round/>
                      <a:headEnd type="none" w="med" len="med"/>
                      <a:tailEnd type="none" w="med" len="med"/>
                    </a:lnL>
                    <a:lnR w="12700" cap="flat" cmpd="sng" algn="ctr">
                      <a:solidFill>
                        <a:srgbClr val="52605A"/>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52605A"/>
                      </a:solidFill>
                      <a:prstDash val="solid"/>
                      <a:round/>
                      <a:headEnd type="none" w="med" len="med"/>
                      <a:tailEnd type="none" w="med" len="med"/>
                    </a:lnB>
                    <a:solidFill>
                      <a:srgbClr val="23352E"/>
                    </a:solidFill>
                  </a:tcPr>
                </a:tc>
                <a:tc>
                  <a:txBody>
                    <a:bodyPr/>
                    <a:lstStyle/>
                    <a:p>
                      <a:pPr indent="0" marL="0">
                        <a:lnSpc>
                          <a:spcPts val="1890"/>
                        </a:lnSpc>
                        <a:buNone/>
                      </a:pPr>
                      <a:r>
                        <a:rPr lang="en-US" sz="1350" b="1" dirty="0">
                          <a:solidFill>
                            <a:srgbClr val="F4F1E8"/>
                          </a:solidFill>
                          <a:latin typeface="Arial" pitchFamily="34" charset="0"/>
                          <a:ea typeface="Arial" pitchFamily="34" charset="-122"/>
                          <a:cs typeface="Arial" pitchFamily="34" charset="-120"/>
                        </a:rPr>
                        <a:t>Payer balance (ngwee)</a:t>
                      </a:r>
                      <a:endParaRPr lang="en-US" sz="1350" dirty="0">
                        <a:latin typeface="Arial" charset="0"/>
                        <a:ea typeface="Arial" charset="0"/>
                        <a:cs typeface="Arial" charset="0"/>
                      </a:endParaRPr>
                    </a:p>
                  </a:txBody>
                  <a:tcPr marL="60007" marR="60007" marT="60007" marB="60007" anchor="t">
                    <a:lnL w="12700" cap="flat" cmpd="sng" algn="ctr">
                      <a:solidFill>
                        <a:srgbClr val="52605A"/>
                      </a:solidFill>
                      <a:prstDash val="solid"/>
                      <a:round/>
                      <a:headEnd type="none" w="med" len="med"/>
                      <a:tailEnd type="none" w="med" len="med"/>
                    </a:lnL>
                    <a:lnR w="12700" cap="flat" cmpd="sng" algn="ctr">
                      <a:solidFill>
                        <a:srgbClr val="52605A"/>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52605A"/>
                      </a:solidFill>
                      <a:prstDash val="solid"/>
                      <a:round/>
                      <a:headEnd type="none" w="med" len="med"/>
                      <a:tailEnd type="none" w="med" len="med"/>
                    </a:lnB>
                    <a:solidFill>
                      <a:srgbClr val="23352E"/>
                    </a:solidFill>
                  </a:tcPr>
                </a:tc>
              </a:tr>
              <a:tr h="372666">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after reserve</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52605A"/>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Compensated, HTTP 500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52605A"/>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185,000 to 185,000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52605A"/>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r>
              <a:tr h="372666">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before fraud check</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Compensated, HTTP 500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185,000 to 185,000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r>
              <a:tr h="372666">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before credit</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Compensated, HTTP 500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185,000 to 185,000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r>
              <a:tr h="372666">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after credit</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Compensated, HTTP 500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185,000 to 185,000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r>
              <a:tr h="372666">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before finalize</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Compensated, HTTP 500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c>
                  <a:txBody>
                    <a:bodyPr/>
                    <a:lstStyle/>
                    <a:p>
                      <a:pPr indent="0" marL="0">
                        <a:lnSpc>
                          <a:spcPts val="1890"/>
                        </a:lnSpc>
                        <a:buNone/>
                      </a:pPr>
                      <a:r>
                        <a:rPr lang="en-US" sz="1350" dirty="0">
                          <a:solidFill>
                            <a:srgbClr val="F4F1E8"/>
                          </a:solidFill>
                          <a:latin typeface="Arial" pitchFamily="34" charset="0"/>
                          <a:ea typeface="Arial" pitchFamily="34" charset="-122"/>
                          <a:cs typeface="Arial" pitchFamily="34" charset="-120"/>
                        </a:rPr>
                        <a:t>185,000 to 185,000</a:t>
                      </a:r>
                      <a:endParaRPr lang="en-US" sz="1350" dirty="0">
                        <a:latin typeface="Arial" charset="0"/>
                        <a:ea typeface="Arial" charset="0"/>
                        <a:cs typeface="Arial" charset="0"/>
                      </a:endParaRPr>
                    </a:p>
                  </a:txBody>
                  <a:tcPr marL="60007" marR="60007" marT="60007" marB="60007" anchor="t">
                    <a:lnL w="12700" cap="flat" cmpd="sng" algn="ctr">
                      <a:solidFill>
                        <a:srgbClr val="43534D"/>
                      </a:solidFill>
                      <a:prstDash val="solid"/>
                      <a:round/>
                      <a:headEnd type="none" w="med" len="med"/>
                      <a:tailEnd type="none" w="med" len="med"/>
                    </a:lnL>
                    <a:lnR w="12700" cap="flat" cmpd="sng" algn="ctr">
                      <a:solidFill>
                        <a:srgbClr val="43534D"/>
                      </a:solidFill>
                      <a:prstDash val="solid"/>
                      <a:round/>
                      <a:headEnd type="none" w="med" len="med"/>
                      <a:tailEnd type="none" w="med" len="med"/>
                    </a:lnR>
                    <a:lnT w="12700" cap="flat" cmpd="sng" algn="ctr">
                      <a:solidFill>
                        <a:srgbClr val="43534D"/>
                      </a:solidFill>
                      <a:prstDash val="solid"/>
                      <a:round/>
                      <a:headEnd type="none" w="med" len="med"/>
                      <a:tailEnd type="none" w="med" len="med"/>
                    </a:lnT>
                    <a:lnB w="12700" cap="flat" cmpd="sng" algn="ctr">
                      <a:solidFill>
                        <a:srgbClr val="43534D"/>
                      </a:solidFill>
                      <a:prstDash val="solid"/>
                      <a:round/>
                      <a:headEnd type="none" w="med" len="med"/>
                      <a:tailEnd type="none" w="med" len="med"/>
                    </a:lnB>
                  </a:tcPr>
                </a:tc>
              </a:tr>
            </a:tbl>
          </a:graphicData>
        </a:graphic>
      </p:graphicFrame>
      <p:sp>
        <p:nvSpPr>
          <p:cNvPr id="18" name="Text 11"/>
          <p:cNvSpPr/>
          <p:nvPr/>
        </p:nvSpPr>
        <p:spPr>
          <a:xfrm>
            <a:off x="812800" y="539737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DB3"/>
                </a:solidFill>
                <a:latin typeface="Arial" pitchFamily="34" charset="0"/>
                <a:ea typeface="Arial" pitchFamily="34" charset="-122"/>
                <a:cs typeface="Arial" pitchFamily="34" charset="-120"/>
              </a:rPr>
              <a:t>After all five: balances sum to zero, ledger balanced, hash chains valid, escrow empty.</a:t>
            </a:r>
            <a:endParaRPr lang="en-US" sz="1300" dirty="0"/>
          </a:p>
        </p:txBody>
      </p:sp>
      <p:sp>
        <p:nvSpPr>
          <p:cNvPr id="19" name="Text 1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DB3"/>
                </a:solidFill>
                <a:latin typeface="Arial" pitchFamily="34" charset="0"/>
                <a:ea typeface="Arial" pitchFamily="34" charset="-122"/>
                <a:cs typeface="Arial" pitchFamily="34" charset="-120"/>
              </a:rPr>
              <a:t>Result from scripts/proofs/run_proofs.py, run locally against PostgreSQL. AWS run to follow.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41D"/>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0944F"/>
                </a:solidFill>
                <a:latin typeface="Arial" pitchFamily="34" charset="0"/>
                <a:ea typeface="Arial" pitchFamily="34" charset="-122"/>
                <a:cs typeface="Arial" pitchFamily="34" charset="-120"/>
              </a:rPr>
              <a:t>PROOF 3 OF 3 · CONCURRENCY SAFETY</a:t>
            </a:r>
            <a:endParaRPr lang="en-US" sz="1300" dirty="0"/>
          </a:p>
        </p:txBody>
      </p:sp>
      <p:sp>
        <p:nvSpPr>
          <p:cNvPr id="3" name="Text 1"/>
          <p:cNvSpPr/>
          <p:nvPr>
            <p:ph type="title"/>
          </p:nvPr>
        </p:nvSpPr>
        <p:spPr>
          <a:xfrm>
            <a:off x="812800" y="10185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8"/>
                </a:solidFill>
                <a:latin typeface="Arial" pitchFamily="34" charset="0"/>
                <a:ea typeface="Arial" pitchFamily="34" charset="-122"/>
                <a:cs typeface="Arial" pitchFamily="34" charset="-120"/>
              </a:rPr>
              <a:t>50 transfers at once, never overdrawn</a:t>
            </a:r>
            <a:endParaRPr lang="en-US" sz="3200" dirty="0"/>
          </a:p>
        </p:txBody>
      </p:sp>
      <p:sp>
        <p:nvSpPr>
          <p:cNvPr id="4" name="Shape 2"/>
          <p:cNvSpPr/>
          <p:nvPr/>
        </p:nvSpPr>
        <p:spPr>
          <a:xfrm>
            <a:off x="815975" y="1722704"/>
            <a:ext cx="3380317" cy="1978157"/>
          </a:xfrm>
          <a:prstGeom prst="roundRect">
            <a:avLst>
              <a:gd name="adj" fmla="val 6260"/>
            </a:avLst>
          </a:prstGeom>
          <a:solidFill>
            <a:srgbClr val="1B382E"/>
          </a:solidFill>
          <a:ln w="6350">
            <a:solidFill>
              <a:srgbClr val="2C5545"/>
            </a:solidFill>
            <a:prstDash val="solid"/>
          </a:ln>
        </p:spPr>
      </p:sp>
      <p:sp>
        <p:nvSpPr>
          <p:cNvPr id="5" name="Text 3"/>
          <p:cNvSpPr/>
          <p:nvPr/>
        </p:nvSpPr>
        <p:spPr>
          <a:xfrm>
            <a:off x="1071033" y="1926961"/>
            <a:ext cx="2956306" cy="850900"/>
          </a:xfrm>
          <a:prstGeom prst="rect">
            <a:avLst/>
          </a:prstGeom>
          <a:noFill/>
          <a:ln/>
        </p:spPr>
        <p:txBody>
          <a:bodyPr wrap="square" lIns="0" tIns="0" rIns="0" bIns="0" rtlCol="0" anchor="t">
            <a:normAutofit/>
          </a:bodyPr>
          <a:lstStyle/>
          <a:p>
            <a:pPr algn="l" indent="0" marL="0">
              <a:lnSpc>
                <a:spcPts val="6500"/>
              </a:lnSpc>
              <a:buNone/>
            </a:pPr>
            <a:r>
              <a:rPr lang="en-US" sz="6500" b="1" dirty="0">
                <a:solidFill>
                  <a:srgbClr val="5FD08F"/>
                </a:solidFill>
                <a:latin typeface="Courier New" pitchFamily="49" charset="0"/>
                <a:ea typeface="Courier New" pitchFamily="49" charset="-122"/>
                <a:cs typeface="Courier New" pitchFamily="49" charset="-120"/>
              </a:rPr>
              <a:t>33</a:t>
            </a:r>
            <a:endParaRPr lang="en-US" sz="6500" dirty="0"/>
          </a:p>
        </p:txBody>
      </p:sp>
      <p:sp>
        <p:nvSpPr>
          <p:cNvPr id="6" name="Text 4"/>
          <p:cNvSpPr/>
          <p:nvPr/>
        </p:nvSpPr>
        <p:spPr>
          <a:xfrm>
            <a:off x="1071033" y="2803261"/>
            <a:ext cx="2956306" cy="7187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4F1E8"/>
                </a:solidFill>
                <a:latin typeface="Arial" pitchFamily="34" charset="0"/>
                <a:ea typeface="Arial" pitchFamily="34" charset="-122"/>
                <a:cs typeface="Arial" pitchFamily="34" charset="-120"/>
              </a:rPr>
              <a:t>transfers succeeded, the most a balance of 1,000 can fund at 30 each</a:t>
            </a:r>
            <a:endParaRPr lang="en-US" sz="1400" dirty="0"/>
          </a:p>
        </p:txBody>
      </p:sp>
      <p:sp>
        <p:nvSpPr>
          <p:cNvPr id="7" name="Shape 5"/>
          <p:cNvSpPr/>
          <p:nvPr/>
        </p:nvSpPr>
        <p:spPr>
          <a:xfrm>
            <a:off x="4405842" y="1722704"/>
            <a:ext cx="3380317" cy="1978157"/>
          </a:xfrm>
          <a:prstGeom prst="roundRect">
            <a:avLst>
              <a:gd name="adj" fmla="val 6260"/>
            </a:avLst>
          </a:prstGeom>
          <a:solidFill>
            <a:srgbClr val="1B382E"/>
          </a:solidFill>
          <a:ln w="6350">
            <a:solidFill>
              <a:srgbClr val="2C5545"/>
            </a:solidFill>
            <a:prstDash val="solid"/>
          </a:ln>
        </p:spPr>
      </p:sp>
      <p:sp>
        <p:nvSpPr>
          <p:cNvPr id="8" name="Text 6"/>
          <p:cNvSpPr/>
          <p:nvPr/>
        </p:nvSpPr>
        <p:spPr>
          <a:xfrm>
            <a:off x="4660900" y="1926961"/>
            <a:ext cx="2956306" cy="850900"/>
          </a:xfrm>
          <a:prstGeom prst="rect">
            <a:avLst/>
          </a:prstGeom>
          <a:noFill/>
          <a:ln/>
        </p:spPr>
        <p:txBody>
          <a:bodyPr wrap="square" lIns="0" tIns="0" rIns="0" bIns="0" rtlCol="0" anchor="t">
            <a:normAutofit/>
          </a:bodyPr>
          <a:lstStyle/>
          <a:p>
            <a:pPr algn="l" indent="0" marL="0">
              <a:lnSpc>
                <a:spcPts val="6500"/>
              </a:lnSpc>
              <a:buNone/>
            </a:pPr>
            <a:r>
              <a:rPr lang="en-US" sz="6500" b="1" dirty="0">
                <a:solidFill>
                  <a:srgbClr val="F0944F"/>
                </a:solidFill>
                <a:latin typeface="Courier New" pitchFamily="49" charset="0"/>
                <a:ea typeface="Courier New" pitchFamily="49" charset="-122"/>
                <a:cs typeface="Courier New" pitchFamily="49" charset="-120"/>
              </a:rPr>
              <a:t>17</a:t>
            </a:r>
            <a:endParaRPr lang="en-US" sz="6500" dirty="0"/>
          </a:p>
        </p:txBody>
      </p:sp>
      <p:sp>
        <p:nvSpPr>
          <p:cNvPr id="9" name="Text 7"/>
          <p:cNvSpPr/>
          <p:nvPr/>
        </p:nvSpPr>
        <p:spPr>
          <a:xfrm>
            <a:off x="4660900" y="2803261"/>
            <a:ext cx="2956306" cy="48762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4F1E8"/>
                </a:solidFill>
                <a:latin typeface="Arial" pitchFamily="34" charset="0"/>
                <a:ea typeface="Arial" pitchFamily="34" charset="-122"/>
                <a:cs typeface="Arial" pitchFamily="34" charset="-120"/>
              </a:rPr>
              <a:t>rejected cleanly with INSUFFICIENT_FUNDS</a:t>
            </a:r>
            <a:endParaRPr lang="en-US" sz="1400" dirty="0"/>
          </a:p>
        </p:txBody>
      </p:sp>
      <p:sp>
        <p:nvSpPr>
          <p:cNvPr id="10" name="Shape 8"/>
          <p:cNvSpPr/>
          <p:nvPr/>
        </p:nvSpPr>
        <p:spPr>
          <a:xfrm>
            <a:off x="7995709" y="1722704"/>
            <a:ext cx="3380317" cy="1978157"/>
          </a:xfrm>
          <a:prstGeom prst="roundRect">
            <a:avLst>
              <a:gd name="adj" fmla="val 6260"/>
            </a:avLst>
          </a:prstGeom>
          <a:solidFill>
            <a:srgbClr val="1B382E"/>
          </a:solidFill>
          <a:ln w="6350">
            <a:solidFill>
              <a:srgbClr val="2C5545"/>
            </a:solidFill>
            <a:prstDash val="solid"/>
          </a:ln>
        </p:spPr>
      </p:sp>
      <p:sp>
        <p:nvSpPr>
          <p:cNvPr id="11" name="Text 9"/>
          <p:cNvSpPr/>
          <p:nvPr/>
        </p:nvSpPr>
        <p:spPr>
          <a:xfrm>
            <a:off x="8250767" y="1926961"/>
            <a:ext cx="2956306" cy="850900"/>
          </a:xfrm>
          <a:prstGeom prst="rect">
            <a:avLst/>
          </a:prstGeom>
          <a:noFill/>
          <a:ln/>
        </p:spPr>
        <p:txBody>
          <a:bodyPr wrap="square" lIns="0" tIns="0" rIns="0" bIns="0" rtlCol="0" anchor="t">
            <a:normAutofit/>
          </a:bodyPr>
          <a:lstStyle/>
          <a:p>
            <a:pPr algn="l" indent="0" marL="0">
              <a:lnSpc>
                <a:spcPts val="6500"/>
              </a:lnSpc>
              <a:buNone/>
            </a:pPr>
            <a:r>
              <a:rPr lang="en-US" sz="6500" b="1" dirty="0">
                <a:solidFill>
                  <a:srgbClr val="F4F1E8"/>
                </a:solidFill>
                <a:latin typeface="Courier New" pitchFamily="49" charset="0"/>
                <a:ea typeface="Courier New" pitchFamily="49" charset="-122"/>
                <a:cs typeface="Courier New" pitchFamily="49" charset="-120"/>
              </a:rPr>
              <a:t>10</a:t>
            </a:r>
            <a:endParaRPr lang="en-US" sz="6500" dirty="0"/>
          </a:p>
        </p:txBody>
      </p:sp>
      <p:sp>
        <p:nvSpPr>
          <p:cNvPr id="12" name="Text 10"/>
          <p:cNvSpPr/>
          <p:nvPr/>
        </p:nvSpPr>
        <p:spPr>
          <a:xfrm>
            <a:off x="8250767" y="2803261"/>
            <a:ext cx="2956306" cy="48762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4F1E8"/>
                </a:solidFill>
                <a:latin typeface="Arial" pitchFamily="34" charset="0"/>
                <a:ea typeface="Arial" pitchFamily="34" charset="-122"/>
                <a:cs typeface="Arial" pitchFamily="34" charset="-120"/>
              </a:rPr>
              <a:t>final payer balance; the payee gained exactly 990</a:t>
            </a:r>
            <a:endParaRPr lang="en-US" sz="1400" dirty="0"/>
          </a:p>
        </p:txBody>
      </p:sp>
      <p:sp>
        <p:nvSpPr>
          <p:cNvPr id="13" name="Text 11"/>
          <p:cNvSpPr/>
          <p:nvPr/>
        </p:nvSpPr>
        <p:spPr>
          <a:xfrm>
            <a:off x="896620" y="3958034"/>
            <a:ext cx="10791952" cy="854075"/>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F4F1E8"/>
                </a:solidFill>
                <a:latin typeface="Arial" pitchFamily="34" charset="0"/>
                <a:ea typeface="Arial" pitchFamily="34" charset="-122"/>
                <a:cs typeface="Arial" pitchFamily="34" charset="-120"/>
              </a:rPr>
              <a:t>Both wallet rows are locked in sorted id order, so opposite transfers cannot deadlock</a:t>
            </a:r>
            <a:endParaRPr lang="en-US" sz="1500" dirty="0"/>
          </a:p>
          <a:p>
            <a:pPr algn="l" marL="170180" indent="-170180">
              <a:lnSpc>
                <a:spcPts val="2175"/>
              </a:lnSpc>
              <a:buSzPct val="100000"/>
              <a:buChar char="•"/>
            </a:pPr>
            <a:r>
              <a:rPr lang="en-US" sz="1500" dirty="0">
                <a:solidFill>
                  <a:srgbClr val="F4F1E8"/>
                </a:solidFill>
                <a:latin typeface="Arial" pitchFamily="34" charset="0"/>
                <a:ea typeface="Arial" pitchFamily="34" charset="-122"/>
                <a:cs typeface="Arial" pitchFamily="34" charset="-120"/>
              </a:rPr>
              <a:t>The balance is checked after the lock is held, never before</a:t>
            </a:r>
            <a:endParaRPr lang="en-US" sz="1500" dirty="0"/>
          </a:p>
          <a:p>
            <a:pPr algn="l" marL="170180" indent="-170180">
              <a:lnSpc>
                <a:spcPts val="2175"/>
              </a:lnSpc>
              <a:buSzPct val="100000"/>
              <a:buChar char="•"/>
            </a:pPr>
            <a:r>
              <a:rPr lang="en-US" sz="1500" dirty="0">
                <a:solidFill>
                  <a:srgbClr val="F4F1E8"/>
                </a:solidFill>
                <a:latin typeface="Arial" pitchFamily="34" charset="0"/>
                <a:ea typeface="Arial" pitchFamily="34" charset="-122"/>
                <a:cs typeface="Arial" pitchFamily="34" charset="-120"/>
              </a:rPr>
              <a:t>A database check that balance stays at or above zero backs up the code</a:t>
            </a:r>
            <a:endParaRPr lang="en-US" sz="1500" dirty="0"/>
          </a:p>
        </p:txBody>
      </p:sp>
      <p:sp>
        <p:nvSpPr>
          <p:cNvPr id="14" name="Text 1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DB3"/>
                </a:solidFill>
                <a:latin typeface="Arial" pitchFamily="34" charset="0"/>
                <a:ea typeface="Arial" pitchFamily="34" charset="-122"/>
                <a:cs typeface="Arial" pitchFamily="34" charset="-120"/>
              </a:rPr>
              <a:t>Result from scripts/proofs/run_proofs.py, run locally against PostgreSQL. AWS run to follow.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SECURITY</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Every security gate, and how it is met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1429"/>
          <a:ext cx="10553700" cy="3233738"/>
        </p:xfrm>
        <a:graphic>
          <a:graphicData uri="http://schemas.openxmlformats.org/drawingml/2006/table">
            <a:tbl>
              <a:tblPr/>
              <a:tblGrid>
                <a:gridCol w="2849499"/>
                <a:gridCol w="7704201"/>
              </a:tblGrid>
              <a:tr h="359304">
                <a:tc>
                  <a:txBody>
                    <a:bodyPr/>
                    <a:lstStyle/>
                    <a:p>
                      <a:pPr indent="0" marL="0">
                        <a:lnSpc>
                          <a:spcPts val="1820"/>
                        </a:lnSpc>
                        <a:buNone/>
                      </a:pPr>
                      <a:r>
                        <a:rPr lang="en-US" sz="1300" b="1" dirty="0">
                          <a:solidFill>
                            <a:srgbClr val="17251F"/>
                          </a:solidFill>
                          <a:latin typeface="Arial" pitchFamily="34" charset="0"/>
                          <a:ea typeface="Arial" pitchFamily="34" charset="-122"/>
                          <a:cs typeface="Arial" pitchFamily="34" charset="-120"/>
                        </a:rPr>
                        <a:t>Requirement</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7251F"/>
                          </a:solidFill>
                          <a:latin typeface="Arial" pitchFamily="34" charset="0"/>
                          <a:ea typeface="Arial" pitchFamily="34" charset="-122"/>
                          <a:cs typeface="Arial" pitchFamily="34" charset="-120"/>
                        </a:rPr>
                        <a:t>How</a:t>
                      </a:r>
                      <a:endParaRPr lang="en-US" sz="1300" dirty="0">
                        <a:latin typeface="Arial" charset="0"/>
                        <a:ea typeface="Arial" charset="0"/>
                        <a:cs typeface="Arial"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No credentials in git</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Database uses IAM auth; gitleaks scans the full history in CI</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Secrets</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DB master secret in Secrets Manager; fraud thresholds in Parameter Store</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Least-privilege IAM</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One role per service, no wildcard actions, each permission justified</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Encryption at rest</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Customer-managed KMS keys on Aurora, S3, SQS, SNS, ECR, logs, CloudTrail</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Encryption in transit</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TLS at the ALB, forced SSL to Aurora, secure-transport bucket policies</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Private subnets</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App tier is private; database subnets have no route to the internet</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Authentication</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Cognito; JWT signature, issuer, token type, client and expiry all verified</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Audit trail</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Arial" pitchFamily="34" charset="0"/>
                          <a:ea typeface="Arial" pitchFamily="34" charset="-122"/>
                          <a:cs typeface="Arial" pitchFamily="34" charset="-120"/>
                        </a:rPr>
                        <a:t>CloudTrail, multi-region, with log-file validation</a:t>
                      </a:r>
                      <a:endParaRPr lang="en-US" sz="1300" dirty="0">
                        <a:latin typeface="Arial" charset="0"/>
                        <a:ea typeface="Arial" charset="0"/>
                        <a:cs typeface="Arial"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5118367"/>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6B42"/>
                </a:solidFill>
                <a:latin typeface="Arial" pitchFamily="34" charset="0"/>
                <a:ea typeface="Arial" pitchFamily="34" charset="-122"/>
                <a:cs typeface="Arial" pitchFamily="34" charset="-120"/>
              </a:rPr>
              <a:t>Scan result: gitleaks with default rules and no allowlist reports no leaks.</a:t>
            </a:r>
            <a:endParaRPr lang="en-US" sz="13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ENGINEERING PRACTICE</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Gates first, then blue/green with rollback</a:t>
            </a:r>
            <a:endParaRPr lang="en-US" sz="3200" dirty="0"/>
          </a:p>
        </p:txBody>
      </p:sp>
      <p:sp>
        <p:nvSpPr>
          <p:cNvPr id="4" name="Text 2"/>
          <p:cNvSpPr/>
          <p:nvPr/>
        </p:nvSpPr>
        <p:spPr>
          <a:xfrm>
            <a:off x="812800" y="1694129"/>
            <a:ext cx="1767814" cy="519377"/>
          </a:xfrm>
          <a:prstGeom prst="roundRect">
            <a:avLst>
              <a:gd name="adj" fmla="val 17117"/>
            </a:avLst>
          </a:prstGeom>
          <a:solidFill>
            <a:srgbClr val="10241D"/>
          </a:solidFill>
          <a:ln/>
        </p:spPr>
        <p:txBody>
          <a:bodyPr wrap="square" lIns="37462" tIns="113662" rIns="37462" bIns="88262" rtlCol="0" anchor="t">
            <a:normAutofit/>
          </a:bodyPr>
          <a:lstStyle/>
          <a:p>
            <a:pPr algn="ctr" indent="0" marL="0">
              <a:lnSpc>
                <a:spcPts val="1890"/>
              </a:lnSpc>
              <a:buNone/>
            </a:pPr>
            <a:r>
              <a:rPr lang="en-US" sz="1350" b="1" dirty="0">
                <a:solidFill>
                  <a:srgbClr val="F4F1E8"/>
                </a:solidFill>
                <a:latin typeface="Arial" pitchFamily="34" charset="0"/>
                <a:ea typeface="Arial" pitchFamily="34" charset="-122"/>
                <a:cs typeface="Arial" pitchFamily="34" charset="-120"/>
              </a:rPr>
              <a:t>Secret scan</a:t>
            </a:r>
            <a:endParaRPr lang="en-US" sz="1350" dirty="0"/>
          </a:p>
        </p:txBody>
      </p:sp>
      <p:pic>
        <p:nvPicPr>
          <p:cNvPr id="5" name="Image 0" descr="arrow-right">    </p:cNvPr>
          <p:cNvPicPr>
            <a:picLocks noChangeAspect="1"/>
          </p:cNvPicPr>
          <p:nvPr/>
        </p:nvPicPr>
        <p:blipFill>
          <a:blip r:embed="rId1"/>
          <a:srcRect l="0" r="0" t="0" b="0"/>
          <a:stretch/>
        </p:blipFill>
        <p:spPr>
          <a:xfrm>
            <a:off x="2682214" y="1694129"/>
            <a:ext cx="228600" cy="165100"/>
          </a:xfrm>
          <a:prstGeom prst="rect">
            <a:avLst/>
          </a:prstGeom>
        </p:spPr>
      </p:pic>
      <p:sp>
        <p:nvSpPr>
          <p:cNvPr id="6" name="Text 3"/>
          <p:cNvSpPr/>
          <p:nvPr/>
        </p:nvSpPr>
        <p:spPr>
          <a:xfrm>
            <a:off x="3012414" y="1694129"/>
            <a:ext cx="1767880" cy="519377"/>
          </a:xfrm>
          <a:prstGeom prst="roundRect">
            <a:avLst>
              <a:gd name="adj" fmla="val 17117"/>
            </a:avLst>
          </a:prstGeom>
          <a:solidFill>
            <a:srgbClr val="10241D"/>
          </a:solidFill>
          <a:ln/>
        </p:spPr>
        <p:txBody>
          <a:bodyPr wrap="none" lIns="0" tIns="0" rIns="0" bIns="0" rtlCol="0" anchor="ctr">
            <a:normAutofit/>
          </a:bodyPr>
          <a:lstStyle/>
          <a:p>
            <a:pPr algn="ctr" indent="0" marL="0">
              <a:lnSpc>
                <a:spcPts val="1890"/>
              </a:lnSpc>
              <a:buNone/>
            </a:pPr>
            <a:r>
              <a:rPr lang="en-US" sz="1350" b="1" dirty="0">
                <a:solidFill>
                  <a:srgbClr val="F4F1E8"/>
                </a:solidFill>
                <a:latin typeface="Arial" pitchFamily="34" charset="0"/>
                <a:ea typeface="Arial" pitchFamily="34" charset="-122"/>
                <a:cs typeface="Arial" pitchFamily="34" charset="-120"/>
              </a:rPr>
              <a:t>Tests and coverage</a:t>
            </a:r>
            <a:endParaRPr lang="en-US" sz="1350" dirty="0"/>
          </a:p>
        </p:txBody>
      </p:sp>
      <p:pic>
        <p:nvPicPr>
          <p:cNvPr id="7" name="Image 1" descr="arrow-right">    </p:cNvPr>
          <p:cNvPicPr>
            <a:picLocks noChangeAspect="1"/>
          </p:cNvPicPr>
          <p:nvPr/>
        </p:nvPicPr>
        <p:blipFill>
          <a:blip r:embed="rId2"/>
          <a:srcRect l="0" r="0" t="0" b="0"/>
          <a:stretch/>
        </p:blipFill>
        <p:spPr>
          <a:xfrm>
            <a:off x="4881893" y="1694129"/>
            <a:ext cx="228600" cy="165100"/>
          </a:xfrm>
          <a:prstGeom prst="rect">
            <a:avLst/>
          </a:prstGeom>
        </p:spPr>
      </p:pic>
      <p:sp>
        <p:nvSpPr>
          <p:cNvPr id="8" name="Text 4"/>
          <p:cNvSpPr/>
          <p:nvPr/>
        </p:nvSpPr>
        <p:spPr>
          <a:xfrm>
            <a:off x="5212093" y="1694129"/>
            <a:ext cx="1767814" cy="519377"/>
          </a:xfrm>
          <a:prstGeom prst="roundRect">
            <a:avLst>
              <a:gd name="adj" fmla="val 17117"/>
            </a:avLst>
          </a:prstGeom>
          <a:solidFill>
            <a:srgbClr val="10241D"/>
          </a:solidFill>
          <a:ln/>
        </p:spPr>
        <p:txBody>
          <a:bodyPr wrap="square" lIns="37462" tIns="113662" rIns="37462" bIns="88262" rtlCol="0" anchor="t">
            <a:normAutofit/>
          </a:bodyPr>
          <a:lstStyle/>
          <a:p>
            <a:pPr algn="ctr" indent="0" marL="0">
              <a:lnSpc>
                <a:spcPts val="1890"/>
              </a:lnSpc>
              <a:buNone/>
            </a:pPr>
            <a:r>
              <a:rPr lang="en-US" sz="1350" b="1" dirty="0">
                <a:solidFill>
                  <a:srgbClr val="F4F1E8"/>
                </a:solidFill>
                <a:latin typeface="Arial" pitchFamily="34" charset="0"/>
                <a:ea typeface="Arial" pitchFamily="34" charset="-122"/>
                <a:cs typeface="Arial" pitchFamily="34" charset="-120"/>
              </a:rPr>
              <a:t>Three proofs</a:t>
            </a:r>
            <a:endParaRPr lang="en-US" sz="1350" dirty="0"/>
          </a:p>
        </p:txBody>
      </p:sp>
      <p:pic>
        <p:nvPicPr>
          <p:cNvPr id="9" name="Image 2" descr="arrow-right">    </p:cNvPr>
          <p:cNvPicPr>
            <a:picLocks noChangeAspect="1"/>
          </p:cNvPicPr>
          <p:nvPr/>
        </p:nvPicPr>
        <p:blipFill>
          <a:blip r:embed="rId3"/>
          <a:srcRect l="0" r="0" t="0" b="0"/>
          <a:stretch/>
        </p:blipFill>
        <p:spPr>
          <a:xfrm>
            <a:off x="7081507" y="1694129"/>
            <a:ext cx="228600" cy="165100"/>
          </a:xfrm>
          <a:prstGeom prst="rect">
            <a:avLst/>
          </a:prstGeom>
        </p:spPr>
      </p:pic>
      <p:sp>
        <p:nvSpPr>
          <p:cNvPr id="10" name="Text 5"/>
          <p:cNvSpPr/>
          <p:nvPr/>
        </p:nvSpPr>
        <p:spPr>
          <a:xfrm>
            <a:off x="7411707" y="1694129"/>
            <a:ext cx="1767880" cy="519377"/>
          </a:xfrm>
          <a:prstGeom prst="roundRect">
            <a:avLst>
              <a:gd name="adj" fmla="val 17117"/>
            </a:avLst>
          </a:prstGeom>
          <a:solidFill>
            <a:srgbClr val="10241D"/>
          </a:solidFill>
          <a:ln/>
        </p:spPr>
        <p:txBody>
          <a:bodyPr wrap="square" lIns="37462" tIns="113662" rIns="37462" bIns="88262" rtlCol="0" anchor="t">
            <a:normAutofit/>
          </a:bodyPr>
          <a:lstStyle/>
          <a:p>
            <a:pPr algn="ctr" indent="0" marL="0">
              <a:lnSpc>
                <a:spcPts val="1890"/>
              </a:lnSpc>
              <a:buNone/>
            </a:pPr>
            <a:r>
              <a:rPr lang="en-US" sz="1350" b="1" dirty="0">
                <a:solidFill>
                  <a:srgbClr val="F4F1E8"/>
                </a:solidFill>
                <a:latin typeface="Arial" pitchFamily="34" charset="0"/>
                <a:ea typeface="Arial" pitchFamily="34" charset="-122"/>
                <a:cs typeface="Arial" pitchFamily="34" charset="-120"/>
              </a:rPr>
              <a:t>Terraform validate</a:t>
            </a:r>
            <a:endParaRPr lang="en-US" sz="1350" dirty="0"/>
          </a:p>
        </p:txBody>
      </p:sp>
      <p:pic>
        <p:nvPicPr>
          <p:cNvPr id="11" name="Image 3" descr="arrow-right">    </p:cNvPr>
          <p:cNvPicPr>
            <a:picLocks noChangeAspect="1"/>
          </p:cNvPicPr>
          <p:nvPr/>
        </p:nvPicPr>
        <p:blipFill>
          <a:blip r:embed="rId4"/>
          <a:srcRect l="0" r="0" t="0" b="0"/>
          <a:stretch/>
        </p:blipFill>
        <p:spPr>
          <a:xfrm>
            <a:off x="9281187" y="1694129"/>
            <a:ext cx="228600" cy="165100"/>
          </a:xfrm>
          <a:prstGeom prst="rect">
            <a:avLst/>
          </a:prstGeom>
        </p:spPr>
      </p:pic>
      <p:sp>
        <p:nvSpPr>
          <p:cNvPr id="12" name="Text 6"/>
          <p:cNvSpPr/>
          <p:nvPr/>
        </p:nvSpPr>
        <p:spPr>
          <a:xfrm>
            <a:off x="9611387" y="1694129"/>
            <a:ext cx="1767814" cy="519377"/>
          </a:xfrm>
          <a:prstGeom prst="roundRect">
            <a:avLst>
              <a:gd name="adj" fmla="val 17117"/>
            </a:avLst>
          </a:prstGeom>
          <a:solidFill>
            <a:srgbClr val="E07B39"/>
          </a:solidFill>
          <a:ln/>
        </p:spPr>
        <p:txBody>
          <a:bodyPr wrap="square" lIns="37462" tIns="113662" rIns="37462" bIns="88262" rtlCol="0" anchor="t">
            <a:normAutofit/>
          </a:bodyPr>
          <a:lstStyle/>
          <a:p>
            <a:pPr algn="ctr" indent="0" marL="0">
              <a:lnSpc>
                <a:spcPts val="1890"/>
              </a:lnSpc>
              <a:buNone/>
            </a:pPr>
            <a:r>
              <a:rPr lang="en-US" sz="1350" b="1" dirty="0">
                <a:solidFill>
                  <a:srgbClr val="10241D"/>
                </a:solidFill>
                <a:latin typeface="Arial" pitchFamily="34" charset="0"/>
                <a:ea typeface="Arial" pitchFamily="34" charset="-122"/>
                <a:cs typeface="Arial" pitchFamily="34" charset="-120"/>
              </a:rPr>
              <a:t>Deploy</a:t>
            </a:r>
            <a:endParaRPr lang="en-US" sz="1350" dirty="0"/>
          </a:p>
        </p:txBody>
      </p:sp>
      <p:sp>
        <p:nvSpPr>
          <p:cNvPr id="13" name="Text 7"/>
          <p:cNvSpPr/>
          <p:nvPr/>
        </p:nvSpPr>
        <p:spPr>
          <a:xfrm>
            <a:off x="812800" y="2442108"/>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Deploy runs only if every earlier gate is green. AWS access uses short-lived OIDC credentials, with no stored keys.</a:t>
            </a:r>
            <a:endParaRPr lang="en-US" sz="1400" dirty="0"/>
          </a:p>
        </p:txBody>
      </p:sp>
      <p:sp>
        <p:nvSpPr>
          <p:cNvPr id="14" name="Shape 8"/>
          <p:cNvSpPr/>
          <p:nvPr/>
        </p:nvSpPr>
        <p:spPr>
          <a:xfrm>
            <a:off x="815975" y="2922786"/>
            <a:ext cx="3380317" cy="2916039"/>
          </a:xfrm>
          <a:prstGeom prst="roundRect">
            <a:avLst>
              <a:gd name="adj" fmla="val 4246"/>
            </a:avLst>
          </a:prstGeom>
          <a:solidFill>
            <a:srgbClr val="FBF9F4"/>
          </a:solidFill>
          <a:ln w="6350">
            <a:solidFill>
              <a:srgbClr val="DDD8CB"/>
            </a:solidFill>
            <a:prstDash val="solid"/>
          </a:ln>
        </p:spPr>
      </p:sp>
      <p:sp>
        <p:nvSpPr>
          <p:cNvPr id="15" name="Text 9"/>
          <p:cNvSpPr/>
          <p:nvPr/>
        </p:nvSpPr>
        <p:spPr>
          <a:xfrm>
            <a:off x="1045633" y="315244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41D"/>
                </a:solidFill>
                <a:latin typeface="Arial" pitchFamily="34" charset="0"/>
                <a:ea typeface="Arial" pitchFamily="34" charset="-122"/>
                <a:cs typeface="Arial" pitchFamily="34" charset="-120"/>
              </a:rPr>
              <a:t>113 tests</a:t>
            </a:r>
            <a:endParaRPr lang="en-US" sz="1700" dirty="0"/>
          </a:p>
        </p:txBody>
      </p:sp>
      <p:sp>
        <p:nvSpPr>
          <p:cNvPr id="16" name="Text 10"/>
          <p:cNvSpPr/>
          <p:nvPr/>
        </p:nvSpPr>
        <p:spPr>
          <a:xfrm>
            <a:off x="1045633" y="3500375"/>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92% coverage against a 60% gate. Integration tests run on a real PostgreSQL.</a:t>
            </a:r>
            <a:endParaRPr lang="en-US" sz="1400" dirty="0"/>
          </a:p>
        </p:txBody>
      </p:sp>
      <p:sp>
        <p:nvSpPr>
          <p:cNvPr id="17" name="Shape 11"/>
          <p:cNvSpPr/>
          <p:nvPr/>
        </p:nvSpPr>
        <p:spPr>
          <a:xfrm>
            <a:off x="4405842" y="2922786"/>
            <a:ext cx="3380317" cy="2916039"/>
          </a:xfrm>
          <a:prstGeom prst="roundRect">
            <a:avLst>
              <a:gd name="adj" fmla="val 4246"/>
            </a:avLst>
          </a:prstGeom>
          <a:solidFill>
            <a:srgbClr val="FBF9F4"/>
          </a:solidFill>
          <a:ln w="6350">
            <a:solidFill>
              <a:srgbClr val="DDD8CB"/>
            </a:solidFill>
            <a:prstDash val="solid"/>
          </a:ln>
        </p:spPr>
      </p:sp>
      <p:sp>
        <p:nvSpPr>
          <p:cNvPr id="18" name="Text 12"/>
          <p:cNvSpPr/>
          <p:nvPr/>
        </p:nvSpPr>
        <p:spPr>
          <a:xfrm>
            <a:off x="4635500" y="315244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41D"/>
                </a:solidFill>
                <a:latin typeface="Arial" pitchFamily="34" charset="0"/>
                <a:ea typeface="Arial" pitchFamily="34" charset="-122"/>
                <a:cs typeface="Arial" pitchFamily="34" charset="-120"/>
              </a:rPr>
              <a:t>Blue/green releases</a:t>
            </a:r>
            <a:endParaRPr lang="en-US" sz="1700" dirty="0"/>
          </a:p>
        </p:txBody>
      </p:sp>
      <p:sp>
        <p:nvSpPr>
          <p:cNvPr id="19" name="Text 13"/>
          <p:cNvSpPr/>
          <p:nvPr/>
        </p:nvSpPr>
        <p:spPr>
          <a:xfrm>
            <a:off x="4635500" y="3500375"/>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CodeDeploy shifts traffic in two steps while 5xx and unhealthy-host alarms watch.</a:t>
            </a:r>
            <a:endParaRPr lang="en-US" sz="1400" dirty="0"/>
          </a:p>
        </p:txBody>
      </p:sp>
      <p:sp>
        <p:nvSpPr>
          <p:cNvPr id="20" name="Shape 14"/>
          <p:cNvSpPr/>
          <p:nvPr/>
        </p:nvSpPr>
        <p:spPr>
          <a:xfrm>
            <a:off x="7995709" y="2922786"/>
            <a:ext cx="3380317" cy="2916039"/>
          </a:xfrm>
          <a:prstGeom prst="roundRect">
            <a:avLst>
              <a:gd name="adj" fmla="val 4246"/>
            </a:avLst>
          </a:prstGeom>
          <a:solidFill>
            <a:srgbClr val="FBF9F4"/>
          </a:solidFill>
          <a:ln w="6350">
            <a:solidFill>
              <a:srgbClr val="DDD8CB"/>
            </a:solidFill>
            <a:prstDash val="solid"/>
          </a:ln>
        </p:spPr>
      </p:sp>
      <p:sp>
        <p:nvSpPr>
          <p:cNvPr id="21" name="Text 15"/>
          <p:cNvSpPr/>
          <p:nvPr/>
        </p:nvSpPr>
        <p:spPr>
          <a:xfrm>
            <a:off x="8225367" y="315244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41D"/>
                </a:solidFill>
                <a:latin typeface="Arial" pitchFamily="34" charset="0"/>
                <a:ea typeface="Arial" pitchFamily="34" charset="-122"/>
                <a:cs typeface="Arial" pitchFamily="34" charset="-120"/>
              </a:rPr>
              <a:t>Automatic rollback</a:t>
            </a:r>
            <a:endParaRPr lang="en-US" sz="1700" dirty="0"/>
          </a:p>
        </p:txBody>
      </p:sp>
      <p:sp>
        <p:nvSpPr>
          <p:cNvPr id="22" name="Text 16"/>
          <p:cNvSpPr/>
          <p:nvPr/>
        </p:nvSpPr>
        <p:spPr>
          <a:xfrm>
            <a:off x="8225367" y="3500375"/>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45C"/>
                </a:solidFill>
                <a:latin typeface="Arial" pitchFamily="34" charset="0"/>
                <a:ea typeface="Arial" pitchFamily="34" charset="-122"/>
                <a:cs typeface="Arial" pitchFamily="34" charset="-120"/>
              </a:rPr>
              <a:t>A failed deployment or an alarm reverts traffic with no human action.</a:t>
            </a:r>
            <a:endParaRPr lang="en-US" sz="1400" dirty="0"/>
          </a:p>
        </p:txBody>
      </p:sp>
      <p:sp>
        <p:nvSpPr>
          <p:cNvPr id="23" name="Text 1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All infrastructure is Terraform. The rollback demo script deploys a deliberately unhealthy release.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OBSERVABILITY</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One dashboard, the four golden signals</a:t>
            </a:r>
            <a:endParaRPr lang="en-US" sz="3200" dirty="0"/>
          </a:p>
        </p:txBody>
      </p:sp>
      <p:sp>
        <p:nvSpPr>
          <p:cNvPr id="4" name="Shape 2"/>
          <p:cNvSpPr/>
          <p:nvPr/>
        </p:nvSpPr>
        <p:spPr>
          <a:xfrm>
            <a:off x="815975" y="1697304"/>
            <a:ext cx="2520950" cy="1426964"/>
          </a:xfrm>
          <a:prstGeom prst="roundRect">
            <a:avLst>
              <a:gd name="adj" fmla="val 8678"/>
            </a:avLst>
          </a:prstGeom>
          <a:solidFill>
            <a:srgbClr val="FBF9F4"/>
          </a:solidFill>
          <a:ln w="6350">
            <a:solidFill>
              <a:srgbClr val="DDD8CB"/>
            </a:solidFill>
            <a:prstDash val="solid"/>
          </a:ln>
        </p:spPr>
      </p:sp>
      <p:sp>
        <p:nvSpPr>
          <p:cNvPr id="5" name="Text 3"/>
          <p:cNvSpPr/>
          <p:nvPr/>
        </p:nvSpPr>
        <p:spPr>
          <a:xfrm>
            <a:off x="994833" y="1888865"/>
            <a:ext cx="22281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61A"/>
                </a:solidFill>
                <a:latin typeface="Arial" pitchFamily="34" charset="0"/>
                <a:ea typeface="Arial" pitchFamily="34" charset="-122"/>
                <a:cs typeface="Arial" pitchFamily="34" charset="-120"/>
              </a:rPr>
              <a:t>Latency</a:t>
            </a:r>
            <a:endParaRPr lang="en-US" sz="1800" dirty="0"/>
          </a:p>
        </p:txBody>
      </p:sp>
      <p:sp>
        <p:nvSpPr>
          <p:cNvPr id="6" name="Text 4"/>
          <p:cNvSpPr/>
          <p:nvPr/>
        </p:nvSpPr>
        <p:spPr>
          <a:xfrm>
            <a:off x="994833" y="2239367"/>
            <a:ext cx="22281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45C"/>
                </a:solidFill>
                <a:latin typeface="Arial" pitchFamily="34" charset="0"/>
                <a:ea typeface="Arial" pitchFamily="34" charset="-122"/>
                <a:cs typeface="Arial" pitchFamily="34" charset="-120"/>
              </a:rPr>
              <a:t>Load balancer p50, p95 and p99 against the 1 second SLO line</a:t>
            </a:r>
            <a:endParaRPr lang="en-US" sz="1300" dirty="0"/>
          </a:p>
        </p:txBody>
      </p:sp>
      <p:sp>
        <p:nvSpPr>
          <p:cNvPr id="7" name="Shape 5"/>
          <p:cNvSpPr/>
          <p:nvPr/>
        </p:nvSpPr>
        <p:spPr>
          <a:xfrm>
            <a:off x="3495675" y="1697304"/>
            <a:ext cx="2520950" cy="1426964"/>
          </a:xfrm>
          <a:prstGeom prst="roundRect">
            <a:avLst>
              <a:gd name="adj" fmla="val 8678"/>
            </a:avLst>
          </a:prstGeom>
          <a:solidFill>
            <a:srgbClr val="FBF9F4"/>
          </a:solidFill>
          <a:ln w="6350">
            <a:solidFill>
              <a:srgbClr val="DDD8CB"/>
            </a:solidFill>
            <a:prstDash val="solid"/>
          </a:ln>
        </p:spPr>
      </p:sp>
      <p:sp>
        <p:nvSpPr>
          <p:cNvPr id="8" name="Text 6"/>
          <p:cNvSpPr/>
          <p:nvPr/>
        </p:nvSpPr>
        <p:spPr>
          <a:xfrm>
            <a:off x="3674533" y="1888865"/>
            <a:ext cx="22281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61A"/>
                </a:solidFill>
                <a:latin typeface="Arial" pitchFamily="34" charset="0"/>
                <a:ea typeface="Arial" pitchFamily="34" charset="-122"/>
                <a:cs typeface="Arial" pitchFamily="34" charset="-120"/>
              </a:rPr>
              <a:t>Traffic</a:t>
            </a:r>
            <a:endParaRPr lang="en-US" sz="1800" dirty="0"/>
          </a:p>
        </p:txBody>
      </p:sp>
      <p:sp>
        <p:nvSpPr>
          <p:cNvPr id="9" name="Text 7"/>
          <p:cNvSpPr/>
          <p:nvPr/>
        </p:nvSpPr>
        <p:spPr>
          <a:xfrm>
            <a:off x="3674533" y="2239367"/>
            <a:ext cx="22281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45C"/>
                </a:solidFill>
                <a:latin typeface="Arial" pitchFamily="34" charset="0"/>
                <a:ea typeface="Arial" pitchFamily="34" charset="-122"/>
                <a:cs typeface="Arial" pitchFamily="34" charset="-120"/>
              </a:rPr>
              <a:t>Requests per minute, and sagas started and succeeded</a:t>
            </a:r>
            <a:endParaRPr lang="en-US" sz="1300" dirty="0"/>
          </a:p>
        </p:txBody>
      </p:sp>
      <p:sp>
        <p:nvSpPr>
          <p:cNvPr id="10" name="Shape 8"/>
          <p:cNvSpPr/>
          <p:nvPr/>
        </p:nvSpPr>
        <p:spPr>
          <a:xfrm>
            <a:off x="6175375" y="1697304"/>
            <a:ext cx="2520950" cy="1426964"/>
          </a:xfrm>
          <a:prstGeom prst="roundRect">
            <a:avLst>
              <a:gd name="adj" fmla="val 8678"/>
            </a:avLst>
          </a:prstGeom>
          <a:solidFill>
            <a:srgbClr val="FBF9F4"/>
          </a:solidFill>
          <a:ln w="6350">
            <a:solidFill>
              <a:srgbClr val="DDD8CB"/>
            </a:solidFill>
            <a:prstDash val="solid"/>
          </a:ln>
        </p:spPr>
      </p:sp>
      <p:sp>
        <p:nvSpPr>
          <p:cNvPr id="11" name="Text 9"/>
          <p:cNvSpPr/>
          <p:nvPr/>
        </p:nvSpPr>
        <p:spPr>
          <a:xfrm>
            <a:off x="6354233" y="1888865"/>
            <a:ext cx="22281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61A"/>
                </a:solidFill>
                <a:latin typeface="Arial" pitchFamily="34" charset="0"/>
                <a:ea typeface="Arial" pitchFamily="34" charset="-122"/>
                <a:cs typeface="Arial" pitchFamily="34" charset="-120"/>
              </a:rPr>
              <a:t>Errors</a:t>
            </a:r>
            <a:endParaRPr lang="en-US" sz="1800" dirty="0"/>
          </a:p>
        </p:txBody>
      </p:sp>
      <p:sp>
        <p:nvSpPr>
          <p:cNvPr id="12" name="Text 10"/>
          <p:cNvSpPr/>
          <p:nvPr/>
        </p:nvSpPr>
        <p:spPr>
          <a:xfrm>
            <a:off x="6354233" y="2239367"/>
            <a:ext cx="22281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45C"/>
                </a:solidFill>
                <a:latin typeface="Arial" pitchFamily="34" charset="0"/>
                <a:ea typeface="Arial" pitchFamily="34" charset="-122"/>
                <a:cs typeface="Arial" pitchFamily="34" charset="-120"/>
              </a:rPr>
              <a:t>5xx, 4xx, failed sagas, unhandled exceptions, transaction outcomes</a:t>
            </a:r>
            <a:endParaRPr lang="en-US" sz="1300" dirty="0"/>
          </a:p>
        </p:txBody>
      </p:sp>
      <p:sp>
        <p:nvSpPr>
          <p:cNvPr id="13" name="Shape 11"/>
          <p:cNvSpPr/>
          <p:nvPr/>
        </p:nvSpPr>
        <p:spPr>
          <a:xfrm>
            <a:off x="8855075" y="1697304"/>
            <a:ext cx="2520950" cy="1426964"/>
          </a:xfrm>
          <a:prstGeom prst="roundRect">
            <a:avLst>
              <a:gd name="adj" fmla="val 8678"/>
            </a:avLst>
          </a:prstGeom>
          <a:solidFill>
            <a:srgbClr val="FBF9F4"/>
          </a:solidFill>
          <a:ln w="6350">
            <a:solidFill>
              <a:srgbClr val="DDD8CB"/>
            </a:solidFill>
            <a:prstDash val="solid"/>
          </a:ln>
        </p:spPr>
      </p:sp>
      <p:sp>
        <p:nvSpPr>
          <p:cNvPr id="14" name="Text 12"/>
          <p:cNvSpPr/>
          <p:nvPr/>
        </p:nvSpPr>
        <p:spPr>
          <a:xfrm>
            <a:off x="9033934" y="1888865"/>
            <a:ext cx="22281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61A"/>
                </a:solidFill>
                <a:latin typeface="Arial" pitchFamily="34" charset="0"/>
                <a:ea typeface="Arial" pitchFamily="34" charset="-122"/>
                <a:cs typeface="Arial" pitchFamily="34" charset="-120"/>
              </a:rPr>
              <a:t>Saturation</a:t>
            </a:r>
            <a:endParaRPr lang="en-US" sz="1800" dirty="0"/>
          </a:p>
        </p:txBody>
      </p:sp>
      <p:sp>
        <p:nvSpPr>
          <p:cNvPr id="15" name="Text 13"/>
          <p:cNvSpPr/>
          <p:nvPr/>
        </p:nvSpPr>
        <p:spPr>
          <a:xfrm>
            <a:off x="9033934" y="2239367"/>
            <a:ext cx="22281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45C"/>
                </a:solidFill>
                <a:latin typeface="Arial" pitchFamily="34" charset="0"/>
                <a:ea typeface="Arial" pitchFamily="34" charset="-122"/>
                <a:cs typeface="Arial" pitchFamily="34" charset="-120"/>
              </a:rPr>
              <a:t>ECS CPU and memory, Aurora capacity and connections, queue depth</a:t>
            </a:r>
            <a:endParaRPr lang="en-US" sz="1300" dirty="0"/>
          </a:p>
        </p:txBody>
      </p:sp>
      <p:sp>
        <p:nvSpPr>
          <p:cNvPr id="16" name="Text 14"/>
          <p:cNvSpPr/>
          <p:nvPr/>
        </p:nvSpPr>
        <p:spPr>
          <a:xfrm>
            <a:off x="812800" y="3356043"/>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7251F"/>
                </a:solidFill>
                <a:latin typeface="Arial" pitchFamily="34" charset="0"/>
                <a:ea typeface="Arial" pitchFamily="34" charset="-122"/>
                <a:cs typeface="Arial" pitchFamily="34" charset="-120"/>
              </a:rPr>
              <a:t>Correlation id:</a:t>
            </a:r>
            <a:r>
              <a:rPr lang="en-US" sz="1500" dirty="0">
                <a:solidFill>
                  <a:srgbClr val="17251F"/>
                </a:solidFill>
                <a:latin typeface="Arial" pitchFamily="34" charset="0"/>
                <a:ea typeface="Arial" pitchFamily="34" charset="-122"/>
                <a:cs typeface="Arial" pitchFamily="34" charset="-120"/>
              </a:rPr>
              <a:t> one id follows a request from the API through the saga, SNS and SQS, in every JSON log line.</a:t>
            </a:r>
            <a:endParaRPr lang="en-US" sz="1500" dirty="0"/>
          </a:p>
        </p:txBody>
      </p:sp>
      <p:sp>
        <p:nvSpPr>
          <p:cNvPr id="17" name="Text 15"/>
          <p:cNvSpPr/>
          <p:nvPr/>
        </p:nvSpPr>
        <p:spPr>
          <a:xfrm>
            <a:off x="812800" y="3727518"/>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7251F"/>
                </a:solidFill>
                <a:latin typeface="Arial" pitchFamily="34" charset="0"/>
                <a:ea typeface="Arial" pitchFamily="34" charset="-122"/>
                <a:cs typeface="Arial" pitchFamily="34" charset="-120"/>
              </a:rPr>
              <a:t>Tracing:</a:t>
            </a:r>
            <a:r>
              <a:rPr lang="en-US" sz="1500" dirty="0">
                <a:solidFill>
                  <a:srgbClr val="17251F"/>
                </a:solidFill>
                <a:latin typeface="Arial" pitchFamily="34" charset="0"/>
                <a:ea typeface="Arial" pitchFamily="34" charset="-122"/>
                <a:cs typeface="Arial" pitchFamily="34" charset="-120"/>
              </a:rPr>
              <a:t> X-Ray links the API, Step Functions, Lambdas and database calls into one trace.</a:t>
            </a:r>
            <a:endParaRPr lang="en-US" sz="1500" dirty="0"/>
          </a:p>
        </p:txBody>
      </p:sp>
      <p:sp>
        <p:nvSpPr>
          <p:cNvPr id="18" name="Text 16"/>
          <p:cNvSpPr/>
          <p:nvPr/>
        </p:nvSpPr>
        <p:spPr>
          <a:xfrm>
            <a:off x="812800" y="4098993"/>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7251F"/>
                </a:solidFill>
                <a:latin typeface="Arial" pitchFamily="34" charset="0"/>
                <a:ea typeface="Arial" pitchFamily="34" charset="-122"/>
                <a:cs typeface="Arial" pitchFamily="34" charset="-120"/>
              </a:rPr>
              <a:t>Alarms:</a:t>
            </a:r>
            <a:r>
              <a:rPr lang="en-US" sz="1500" dirty="0">
                <a:solidFill>
                  <a:srgbClr val="17251F"/>
                </a:solidFill>
                <a:latin typeface="Arial" pitchFamily="34" charset="0"/>
                <a:ea typeface="Arial" pitchFamily="34" charset="-122"/>
                <a:cs typeface="Arial" pitchFamily="34" charset="-120"/>
              </a:rPr>
              <a:t> eight alarms notify by e-mail, and each one has a written response in the runbook.</a:t>
            </a:r>
            <a:endParaRPr lang="en-US" sz="15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SLIS AND SLOS</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Core journey: send money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2229"/>
          <a:ext cx="10553700" cy="2427618"/>
        </p:xfrm>
        <a:graphic>
          <a:graphicData uri="http://schemas.openxmlformats.org/drawingml/2006/table">
            <a:tbl>
              <a:tblPr/>
              <a:tblGrid>
                <a:gridCol w="3799332"/>
                <a:gridCol w="3588258"/>
                <a:gridCol w="3166110"/>
              </a:tblGrid>
              <a:tr h="385961">
                <a:tc>
                  <a:txBody>
                    <a:bodyPr/>
                    <a:lstStyle/>
                    <a:p>
                      <a:pPr indent="0" marL="0">
                        <a:lnSpc>
                          <a:spcPts val="1960"/>
                        </a:lnSpc>
                        <a:buNone/>
                      </a:pPr>
                      <a:r>
                        <a:rPr lang="en-US" sz="1400" b="1" dirty="0">
                          <a:solidFill>
                            <a:srgbClr val="17251F"/>
                          </a:solidFill>
                          <a:latin typeface="Arial" pitchFamily="34" charset="0"/>
                          <a:ea typeface="Arial" pitchFamily="34" charset="-122"/>
                          <a:cs typeface="Arial" pitchFamily="34" charset="-120"/>
                        </a:rPr>
                        <a:t>Indicator</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7251F"/>
                          </a:solidFill>
                          <a:latin typeface="Arial" pitchFamily="34" charset="0"/>
                          <a:ea typeface="Arial" pitchFamily="34" charset="-122"/>
                          <a:cs typeface="Arial" pitchFamily="34" charset="-120"/>
                        </a:rPr>
                        <a:t>Objective, 30 days</a:t>
                      </a:r>
                      <a:endParaRPr lang="en-US" sz="1400" dirty="0">
                        <a:latin typeface="Arial" charset="0"/>
                        <a:ea typeface="Arial" charset="0"/>
                        <a:cs typeface="Arial"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7251F"/>
                          </a:solidFill>
                          <a:latin typeface="Arial" pitchFamily="34" charset="0"/>
                          <a:ea typeface="Arial" pitchFamily="34" charset="-122"/>
                          <a:cs typeface="Arial" pitchFamily="34" charset="-120"/>
                        </a:rPr>
                        <a:t>Alarm</a:t>
                      </a:r>
                      <a:endParaRPr lang="en-US" sz="1400" dirty="0">
                        <a:latin typeface="Arial" charset="0"/>
                        <a:ea typeface="Arial" charset="0"/>
                        <a:cs typeface="Arial"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5961">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Availability: requests not answered 5xx</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99.5%</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api-5xx-rate</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Latency: p95 of the whole saga</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Under 1 s in 99% of 5-minute windows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api-latency-p95</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634868">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Correctness: reconciliation runs with zero discrepancies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100%, zero tolerance</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reconciliation-discrepancy</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634868">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Freshness: events reviewed by fraud within 60 s</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99.9%</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Arial" pitchFamily="34" charset="0"/>
                          <a:ea typeface="Arial" pitchFamily="34" charset="-122"/>
                          <a:cs typeface="Arial" pitchFamily="34" charset="-120"/>
                        </a:rPr>
                        <a:t>fraud-dlq-not-empty</a:t>
                      </a:r>
                      <a:endParaRPr lang="en-US" sz="1400" dirty="0">
                        <a:latin typeface="Arial" charset="0"/>
                        <a:ea typeface="Arial" charset="0"/>
                        <a:cs typeface="Arial"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41384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45C"/>
                </a:solidFill>
                <a:latin typeface="Arial" pitchFamily="34" charset="0"/>
                <a:ea typeface="Arial" pitchFamily="34" charset="-122"/>
                <a:cs typeface="Arial" pitchFamily="34" charset="-120"/>
              </a:rPr>
              <a:t>Availability leaves room for 3.6 hours of full outage a month. Correctness has no error budget, because it is money. A compensated failure counts against availability, not correctness.</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EVIDENCE FROM THE AWS RUN</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What the deployed system shows</a:t>
            </a:r>
            <a:endParaRPr lang="en-US" sz="3200" dirty="0"/>
          </a:p>
        </p:txBody>
      </p:sp>
      <p:sp>
        <p:nvSpPr>
          <p:cNvPr id="4" name="Shape 2"/>
          <p:cNvSpPr/>
          <p:nvPr/>
        </p:nvSpPr>
        <p:spPr>
          <a:xfrm>
            <a:off x="819150" y="1700479"/>
            <a:ext cx="5181600" cy="1972337"/>
          </a:xfrm>
          <a:prstGeom prst="roundRect">
            <a:avLst>
              <a:gd name="adj" fmla="val 6117"/>
            </a:avLst>
          </a:prstGeom>
          <a:noFill/>
          <a:ln w="12700">
            <a:solidFill>
              <a:srgbClr val="B8561A"/>
            </a:solidFill>
            <a:prstDash val="dash"/>
          </a:ln>
        </p:spPr>
      </p:sp>
      <p:sp>
        <p:nvSpPr>
          <p:cNvPr id="5" name="Text 3"/>
          <p:cNvSpPr/>
          <p:nvPr/>
        </p:nvSpPr>
        <p:spPr>
          <a:xfrm>
            <a:off x="1054100" y="2259013"/>
            <a:ext cx="485305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61A"/>
                </a:solidFill>
                <a:latin typeface="Arial" pitchFamily="34" charset="0"/>
                <a:ea typeface="Arial" pitchFamily="34" charset="-122"/>
                <a:cs typeface="Arial" pitchFamily="34" charset="-120"/>
              </a:rPr>
              <a:t>[Screenshot to add]</a:t>
            </a:r>
            <a:endParaRPr lang="en-US" sz="1300" dirty="0"/>
          </a:p>
        </p:txBody>
      </p:sp>
      <p:sp>
        <p:nvSpPr>
          <p:cNvPr id="6" name="Text 4"/>
          <p:cNvSpPr/>
          <p:nvPr/>
        </p:nvSpPr>
        <p:spPr>
          <a:xfrm>
            <a:off x="1054100" y="2553630"/>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1D"/>
                </a:solidFill>
                <a:latin typeface="Arial" pitchFamily="34" charset="0"/>
                <a:ea typeface="Arial" pitchFamily="34" charset="-122"/>
                <a:cs typeface="Arial" pitchFamily="34" charset="-120"/>
              </a:rPr>
              <a:t>CloudWatch dashboard</a:t>
            </a:r>
            <a:endParaRPr lang="en-US" sz="1800" dirty="0"/>
          </a:p>
        </p:txBody>
      </p:sp>
      <p:sp>
        <p:nvSpPr>
          <p:cNvPr id="7" name="Text 5"/>
          <p:cNvSpPr/>
          <p:nvPr/>
        </p:nvSpPr>
        <p:spPr>
          <a:xfrm>
            <a:off x="1054100" y="2891433"/>
            <a:ext cx="485305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45C"/>
                </a:solidFill>
                <a:latin typeface="Arial" pitchFamily="34" charset="0"/>
                <a:ea typeface="Arial" pitchFamily="34" charset="-122"/>
                <a:cs typeface="Arial" pitchFamily="34" charset="-120"/>
              </a:rPr>
              <a:t>Golden signals during the load ramp</a:t>
            </a:r>
            <a:endParaRPr lang="en-US" sz="1300" dirty="0"/>
          </a:p>
        </p:txBody>
      </p:sp>
      <p:sp>
        <p:nvSpPr>
          <p:cNvPr id="8" name="Shape 6"/>
          <p:cNvSpPr/>
          <p:nvPr/>
        </p:nvSpPr>
        <p:spPr>
          <a:xfrm>
            <a:off x="6191250" y="1700479"/>
            <a:ext cx="5181600" cy="1972337"/>
          </a:xfrm>
          <a:prstGeom prst="roundRect">
            <a:avLst>
              <a:gd name="adj" fmla="val 6117"/>
            </a:avLst>
          </a:prstGeom>
          <a:noFill/>
          <a:ln w="12700">
            <a:solidFill>
              <a:srgbClr val="B8561A"/>
            </a:solidFill>
            <a:prstDash val="dash"/>
          </a:ln>
        </p:spPr>
      </p:sp>
      <p:sp>
        <p:nvSpPr>
          <p:cNvPr id="9" name="Text 7"/>
          <p:cNvSpPr/>
          <p:nvPr/>
        </p:nvSpPr>
        <p:spPr>
          <a:xfrm>
            <a:off x="6426200" y="2259013"/>
            <a:ext cx="485305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61A"/>
                </a:solidFill>
                <a:latin typeface="Arial" pitchFamily="34" charset="0"/>
                <a:ea typeface="Arial" pitchFamily="34" charset="-122"/>
                <a:cs typeface="Arial" pitchFamily="34" charset="-120"/>
              </a:rPr>
              <a:t>[Screenshot to add]</a:t>
            </a:r>
            <a:endParaRPr lang="en-US" sz="1300" dirty="0"/>
          </a:p>
        </p:txBody>
      </p:sp>
      <p:sp>
        <p:nvSpPr>
          <p:cNvPr id="10" name="Text 8"/>
          <p:cNvSpPr/>
          <p:nvPr/>
        </p:nvSpPr>
        <p:spPr>
          <a:xfrm>
            <a:off x="6426200" y="2553630"/>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1D"/>
                </a:solidFill>
                <a:latin typeface="Arial" pitchFamily="34" charset="0"/>
                <a:ea typeface="Arial" pitchFamily="34" charset="-122"/>
                <a:cs typeface="Arial" pitchFamily="34" charset="-120"/>
              </a:rPr>
              <a:t>Auto-scaling</a:t>
            </a:r>
            <a:endParaRPr lang="en-US" sz="1800" dirty="0"/>
          </a:p>
        </p:txBody>
      </p:sp>
      <p:sp>
        <p:nvSpPr>
          <p:cNvPr id="11" name="Text 9"/>
          <p:cNvSpPr/>
          <p:nvPr/>
        </p:nvSpPr>
        <p:spPr>
          <a:xfrm>
            <a:off x="6426200" y="2891433"/>
            <a:ext cx="49403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45C"/>
                </a:solidFill>
                <a:latin typeface="Arial" pitchFamily="34" charset="0"/>
                <a:ea typeface="Arial" pitchFamily="34" charset="-122"/>
                <a:cs typeface="Arial" pitchFamily="34" charset="-120"/>
              </a:rPr>
              <a:t>ECS tasks rising and falling with load, and the scaling activities</a:t>
            </a:r>
            <a:endParaRPr lang="en-US" sz="1300" dirty="0"/>
          </a:p>
        </p:txBody>
      </p:sp>
      <p:sp>
        <p:nvSpPr>
          <p:cNvPr id="12" name="Shape 10"/>
          <p:cNvSpPr/>
          <p:nvPr/>
        </p:nvSpPr>
        <p:spPr>
          <a:xfrm>
            <a:off x="819150" y="3863318"/>
            <a:ext cx="5181600" cy="1972337"/>
          </a:xfrm>
          <a:prstGeom prst="roundRect">
            <a:avLst>
              <a:gd name="adj" fmla="val 6117"/>
            </a:avLst>
          </a:prstGeom>
          <a:noFill/>
          <a:ln w="12700">
            <a:solidFill>
              <a:srgbClr val="B8561A"/>
            </a:solidFill>
            <a:prstDash val="dash"/>
          </a:ln>
        </p:spPr>
      </p:sp>
      <p:sp>
        <p:nvSpPr>
          <p:cNvPr id="13" name="Text 11"/>
          <p:cNvSpPr/>
          <p:nvPr/>
        </p:nvSpPr>
        <p:spPr>
          <a:xfrm>
            <a:off x="1054100" y="4421851"/>
            <a:ext cx="485305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61A"/>
                </a:solidFill>
                <a:latin typeface="Arial" pitchFamily="34" charset="0"/>
                <a:ea typeface="Arial" pitchFamily="34" charset="-122"/>
                <a:cs typeface="Arial" pitchFamily="34" charset="-120"/>
              </a:rPr>
              <a:t>[Screenshot to add]</a:t>
            </a:r>
            <a:endParaRPr lang="en-US" sz="1300" dirty="0"/>
          </a:p>
        </p:txBody>
      </p:sp>
      <p:sp>
        <p:nvSpPr>
          <p:cNvPr id="14" name="Text 12"/>
          <p:cNvSpPr/>
          <p:nvPr/>
        </p:nvSpPr>
        <p:spPr>
          <a:xfrm>
            <a:off x="1054100" y="4716463"/>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1D"/>
                </a:solidFill>
                <a:latin typeface="Arial" pitchFamily="34" charset="0"/>
                <a:ea typeface="Arial" pitchFamily="34" charset="-122"/>
                <a:cs typeface="Arial" pitchFamily="34" charset="-120"/>
              </a:rPr>
              <a:t>Automatic rollback</a:t>
            </a:r>
            <a:endParaRPr lang="en-US" sz="1800" dirty="0"/>
          </a:p>
        </p:txBody>
      </p:sp>
      <p:sp>
        <p:nvSpPr>
          <p:cNvPr id="15" name="Text 13"/>
          <p:cNvSpPr/>
          <p:nvPr/>
        </p:nvSpPr>
        <p:spPr>
          <a:xfrm>
            <a:off x="1054100" y="5054271"/>
            <a:ext cx="485305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45C"/>
                </a:solidFill>
                <a:latin typeface="Arial" pitchFamily="34" charset="0"/>
                <a:ea typeface="Arial" pitchFamily="34" charset="-122"/>
                <a:cs typeface="Arial" pitchFamily="34" charset="-120"/>
              </a:rPr>
              <a:t>CodeDeploy reverting a deliberately broken release</a:t>
            </a:r>
            <a:endParaRPr lang="en-US" sz="1300" dirty="0"/>
          </a:p>
        </p:txBody>
      </p:sp>
      <p:sp>
        <p:nvSpPr>
          <p:cNvPr id="16" name="Shape 14"/>
          <p:cNvSpPr/>
          <p:nvPr/>
        </p:nvSpPr>
        <p:spPr>
          <a:xfrm>
            <a:off x="6191250" y="3863318"/>
            <a:ext cx="5181600" cy="1972337"/>
          </a:xfrm>
          <a:prstGeom prst="roundRect">
            <a:avLst>
              <a:gd name="adj" fmla="val 6117"/>
            </a:avLst>
          </a:prstGeom>
          <a:noFill/>
          <a:ln w="12700">
            <a:solidFill>
              <a:srgbClr val="B8561A"/>
            </a:solidFill>
            <a:prstDash val="dash"/>
          </a:ln>
        </p:spPr>
      </p:sp>
      <p:sp>
        <p:nvSpPr>
          <p:cNvPr id="17" name="Text 15"/>
          <p:cNvSpPr/>
          <p:nvPr/>
        </p:nvSpPr>
        <p:spPr>
          <a:xfrm>
            <a:off x="6426200" y="4421851"/>
            <a:ext cx="485305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61A"/>
                </a:solidFill>
                <a:latin typeface="Arial" pitchFamily="34" charset="0"/>
                <a:ea typeface="Arial" pitchFamily="34" charset="-122"/>
                <a:cs typeface="Arial" pitchFamily="34" charset="-120"/>
              </a:rPr>
              <a:t>[Screenshot to add]</a:t>
            </a:r>
            <a:endParaRPr lang="en-US" sz="1300" dirty="0"/>
          </a:p>
        </p:txBody>
      </p:sp>
      <p:sp>
        <p:nvSpPr>
          <p:cNvPr id="18" name="Text 16"/>
          <p:cNvSpPr/>
          <p:nvPr/>
        </p:nvSpPr>
        <p:spPr>
          <a:xfrm>
            <a:off x="6426200" y="4716463"/>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1D"/>
                </a:solidFill>
                <a:latin typeface="Arial" pitchFamily="34" charset="0"/>
                <a:ea typeface="Arial" pitchFamily="34" charset="-122"/>
                <a:cs typeface="Arial" pitchFamily="34" charset="-120"/>
              </a:rPr>
              <a:t>Trace and alarm</a:t>
            </a:r>
            <a:endParaRPr lang="en-US" sz="1800" dirty="0"/>
          </a:p>
        </p:txBody>
      </p:sp>
      <p:sp>
        <p:nvSpPr>
          <p:cNvPr id="19" name="Text 17"/>
          <p:cNvSpPr/>
          <p:nvPr/>
        </p:nvSpPr>
        <p:spPr>
          <a:xfrm>
            <a:off x="6426200" y="5054271"/>
            <a:ext cx="485305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45C"/>
                </a:solidFill>
                <a:latin typeface="Arial" pitchFamily="34" charset="0"/>
                <a:ea typeface="Arial" pitchFamily="34" charset="-122"/>
                <a:cs typeface="Arial" pitchFamily="34" charset="-120"/>
              </a:rPr>
              <a:t>An X-Ray trace found by correlation id, and an alarm e-mail</a:t>
            </a:r>
            <a:endParaRPr lang="en-US" sz="1300"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Replace each dashed panel with a screenshot or delete this slide. Commands are in the README.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COST · ESTIMATE, USD PER MONTH</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10x the load costs about 2.3x</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68729"/>
          <a:ext cx="10553700" cy="2608659"/>
        </p:xfrm>
        <a:graphic>
          <a:graphicData uri="http://schemas.openxmlformats.org/drawingml/2006/table">
            <a:tbl>
              <a:tblPr/>
              <a:tblGrid>
                <a:gridCol w="4854702"/>
                <a:gridCol w="1899666"/>
                <a:gridCol w="1899666"/>
                <a:gridCol w="1899666"/>
              </a:tblGrid>
              <a:tr h="372666">
                <a:tc>
                  <a:txBody>
                    <a:bodyPr/>
                    <a:lstStyle/>
                    <a:p>
                      <a:pPr indent="0" marL="0">
                        <a:lnSpc>
                          <a:spcPts val="1890"/>
                        </a:lnSpc>
                        <a:buNone/>
                      </a:pPr>
                      <a:r>
                        <a:rPr lang="en-US" sz="1350" b="1" dirty="0">
                          <a:solidFill>
                            <a:srgbClr val="17251F"/>
                          </a:solidFill>
                          <a:latin typeface="Arial" pitchFamily="34" charset="0"/>
                          <a:ea typeface="Arial" pitchFamily="34" charset="-122"/>
                          <a:cs typeface="Arial" pitchFamily="34" charset="-120"/>
                        </a:rPr>
                        <a:t>Service</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890"/>
                        </a:lnSpc>
                        <a:buNone/>
                      </a:pPr>
                      <a:r>
                        <a:rPr lang="en-US" sz="1350" b="1" dirty="0">
                          <a:solidFill>
                            <a:srgbClr val="17251F"/>
                          </a:solidFill>
                          <a:latin typeface="Arial" pitchFamily="34" charset="0"/>
                          <a:ea typeface="Arial" pitchFamily="34" charset="-122"/>
                          <a:cs typeface="Arial" pitchFamily="34" charset="-120"/>
                        </a:rPr>
                        <a:t>Baseline</a:t>
                      </a:r>
                      <a:endParaRPr lang="en-US" sz="1350" dirty="0">
                        <a:latin typeface="Arial" charset="0"/>
                        <a:ea typeface="Arial" charset="0"/>
                        <a:cs typeface="Arial" charset="0"/>
                      </a:endParaRPr>
                    </a:p>
                  </a:txBody>
                  <a:tcPr marL="60007" marR="60007" marT="60007" marB="6000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890"/>
                        </a:lnSpc>
                        <a:buNone/>
                      </a:pPr>
                      <a:r>
                        <a:rPr lang="en-US" sz="1350" b="1" dirty="0">
                          <a:solidFill>
                            <a:srgbClr val="17251F"/>
                          </a:solidFill>
                          <a:latin typeface="Arial" pitchFamily="34" charset="0"/>
                          <a:ea typeface="Arial" pitchFamily="34" charset="-122"/>
                          <a:cs typeface="Arial" pitchFamily="34" charset="-120"/>
                        </a:rPr>
                        <a:t>10x load</a:t>
                      </a:r>
                      <a:endParaRPr lang="en-US" sz="1350" dirty="0">
                        <a:latin typeface="Arial" charset="0"/>
                        <a:ea typeface="Arial" charset="0"/>
                        <a:cs typeface="Arial" charset="0"/>
                      </a:endParaRPr>
                    </a:p>
                  </a:txBody>
                  <a:tcPr marL="60007" marR="60007" marT="60007" marB="6000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890"/>
                        </a:lnSpc>
                        <a:buNone/>
                      </a:pPr>
                      <a:r>
                        <a:rPr lang="en-US" sz="1350" b="1" dirty="0">
                          <a:solidFill>
                            <a:srgbClr val="17251F"/>
                          </a:solidFill>
                          <a:latin typeface="Arial" pitchFamily="34" charset="0"/>
                          <a:ea typeface="Arial" pitchFamily="34" charset="-122"/>
                          <a:cs typeface="Arial" pitchFamily="34" charset="-120"/>
                        </a:rPr>
                        <a:t>Actual</a:t>
                      </a:r>
                      <a:endParaRPr lang="en-US" sz="1350" dirty="0">
                        <a:latin typeface="Arial" charset="0"/>
                        <a:ea typeface="Arial" charset="0"/>
                        <a:cs typeface="Arial" charset="0"/>
                      </a:endParaRPr>
                    </a:p>
                  </a:txBody>
                  <a:tcPr marL="60007" marR="60007" marT="60007" marB="6000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72666">
                <a:tc>
                  <a:txBody>
                    <a:bodyPr/>
                    <a:lstStyle/>
                    <a:p>
                      <a:pPr indent="0" marL="0">
                        <a:lnSpc>
                          <a:spcPts val="1890"/>
                        </a:lnSpc>
                        <a:buNone/>
                      </a:pPr>
                      <a:r>
                        <a:rPr lang="en-US" sz="1350" dirty="0">
                          <a:solidFill>
                            <a:srgbClr val="17251F"/>
                          </a:solidFill>
                          <a:latin typeface="Arial" pitchFamily="34" charset="0"/>
                          <a:ea typeface="Arial" pitchFamily="34" charset="-122"/>
                          <a:cs typeface="Arial" pitchFamily="34" charset="-120"/>
                        </a:rPr>
                        <a:t>Aurora Serverless v2 (compute, storage)</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89</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272</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[fill in]</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666">
                <a:tc>
                  <a:txBody>
                    <a:bodyPr/>
                    <a:lstStyle/>
                    <a:p>
                      <a:pPr indent="0" marL="0">
                        <a:lnSpc>
                          <a:spcPts val="1890"/>
                        </a:lnSpc>
                        <a:buNone/>
                      </a:pPr>
                      <a:r>
                        <a:rPr lang="en-US" sz="1350" dirty="0">
                          <a:solidFill>
                            <a:srgbClr val="17251F"/>
                          </a:solidFill>
                          <a:latin typeface="Arial" pitchFamily="34" charset="0"/>
                          <a:ea typeface="Arial" pitchFamily="34" charset="-122"/>
                          <a:cs typeface="Arial" pitchFamily="34" charset="-120"/>
                        </a:rPr>
                        <a:t>ECS Fargate API tasks</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18</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45</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[fill in]</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666">
                <a:tc>
                  <a:txBody>
                    <a:bodyPr/>
                    <a:lstStyle/>
                    <a:p>
                      <a:pPr indent="0" marL="0">
                        <a:lnSpc>
                          <a:spcPts val="1890"/>
                        </a:lnSpc>
                        <a:buNone/>
                      </a:pPr>
                      <a:r>
                        <a:rPr lang="en-US" sz="1350" dirty="0">
                          <a:solidFill>
                            <a:srgbClr val="17251F"/>
                          </a:solidFill>
                          <a:latin typeface="Arial" pitchFamily="34" charset="0"/>
                          <a:ea typeface="Arial" pitchFamily="34" charset="-122"/>
                          <a:cs typeface="Arial" pitchFamily="34" charset="-120"/>
                        </a:rPr>
                        <a:t>NAT gateway</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37</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37</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[fill in]</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666">
                <a:tc>
                  <a:txBody>
                    <a:bodyPr/>
                    <a:lstStyle/>
                    <a:p>
                      <a:pPr indent="0" marL="0">
                        <a:lnSpc>
                          <a:spcPts val="1890"/>
                        </a:lnSpc>
                        <a:buNone/>
                      </a:pPr>
                      <a:r>
                        <a:rPr lang="en-US" sz="1350" dirty="0">
                          <a:solidFill>
                            <a:srgbClr val="17251F"/>
                          </a:solidFill>
                          <a:latin typeface="Arial" pitchFamily="34" charset="0"/>
                          <a:ea typeface="Arial" pitchFamily="34" charset="-122"/>
                          <a:cs typeface="Arial" pitchFamily="34" charset="-120"/>
                        </a:rPr>
                        <a:t>Load balancer</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30</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34</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[fill in]</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666">
                <a:tc>
                  <a:txBody>
                    <a:bodyPr/>
                    <a:lstStyle/>
                    <a:p>
                      <a:pPr indent="0" marL="0">
                        <a:lnSpc>
                          <a:spcPts val="1890"/>
                        </a:lnSpc>
                        <a:buNone/>
                      </a:pPr>
                      <a:r>
                        <a:rPr lang="en-US" sz="1350" dirty="0">
                          <a:solidFill>
                            <a:srgbClr val="17251F"/>
                          </a:solidFill>
                          <a:latin typeface="Arial" pitchFamily="34" charset="0"/>
                          <a:ea typeface="Arial" pitchFamily="34" charset="-122"/>
                          <a:cs typeface="Arial" pitchFamily="34" charset="-120"/>
                        </a:rPr>
                        <a:t>Everything else</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19</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51</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[fill in]</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666">
                <a:tc>
                  <a:txBody>
                    <a:bodyPr/>
                    <a:lstStyle/>
                    <a:p>
                      <a:pPr indent="0" marL="0">
                        <a:lnSpc>
                          <a:spcPts val="1890"/>
                        </a:lnSpc>
                        <a:buNone/>
                      </a:pPr>
                      <a:r>
                        <a:rPr lang="en-US" sz="1350" dirty="0">
                          <a:solidFill>
                            <a:srgbClr val="17251F"/>
                          </a:solidFill>
                          <a:latin typeface="Arial" pitchFamily="34" charset="0"/>
                          <a:ea typeface="Arial" pitchFamily="34" charset="-122"/>
                          <a:cs typeface="Arial" pitchFamily="34" charset="-120"/>
                        </a:rPr>
                        <a:t>Total</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193</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439</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890"/>
                        </a:lnSpc>
                        <a:buNone/>
                      </a:pPr>
                      <a:r>
                        <a:rPr lang="en-US" sz="1350" dirty="0">
                          <a:solidFill>
                            <a:srgbClr val="17251F"/>
                          </a:solidFill>
                          <a:latin typeface="Arial" pitchFamily="34" charset="0"/>
                          <a:ea typeface="Arial" pitchFamily="34" charset="-122"/>
                          <a:cs typeface="Arial" pitchFamily="34" charset="-120"/>
                        </a:rPr>
                        <a:t>[fill in]</a:t>
                      </a:r>
                      <a:endParaRPr lang="en-US" sz="1350" dirty="0">
                        <a:latin typeface="Arial" charset="0"/>
                        <a:ea typeface="Arial" charset="0"/>
                        <a:cs typeface="Arial"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467889"/>
            <a:ext cx="1088339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45C"/>
                </a:solidFill>
                <a:latin typeface="Arial" pitchFamily="34" charset="0"/>
                <a:ea typeface="Arial" pitchFamily="34" charset="-122"/>
                <a:cs typeface="Arial" pitchFamily="34" charset="-120"/>
              </a:rPr>
              <a:t>Baseline: 100,000 transactions a month. 10x: 1,000,000. List prices from scripts/cost_model.py; these are estimates until replaced by Cost Explorer figures.</a:t>
            </a:r>
            <a:endParaRPr lang="en-US" sz="13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COST OPTIMISATIONS · IMPLEMENTED AND QUANTIFIED</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Four savings, each in the Terraform</a:t>
            </a:r>
            <a:endParaRPr lang="en-US" sz="3200" dirty="0"/>
          </a:p>
        </p:txBody>
      </p:sp>
      <p:sp>
        <p:nvSpPr>
          <p:cNvPr id="4" name="Shape 2"/>
          <p:cNvSpPr/>
          <p:nvPr/>
        </p:nvSpPr>
        <p:spPr>
          <a:xfrm>
            <a:off x="815975" y="1697304"/>
            <a:ext cx="5187950" cy="1978687"/>
          </a:xfrm>
          <a:prstGeom prst="roundRect">
            <a:avLst>
              <a:gd name="adj" fmla="val 6258"/>
            </a:avLst>
          </a:prstGeom>
          <a:solidFill>
            <a:srgbClr val="FBF9F4"/>
          </a:solidFill>
          <a:ln w="6350">
            <a:solidFill>
              <a:srgbClr val="DDD8CB"/>
            </a:solidFill>
            <a:prstDash val="solid"/>
          </a:ln>
        </p:spPr>
      </p:sp>
      <p:sp>
        <p:nvSpPr>
          <p:cNvPr id="5" name="Text 3"/>
          <p:cNvSpPr/>
          <p:nvPr/>
        </p:nvSpPr>
        <p:spPr>
          <a:xfrm>
            <a:off x="1045633" y="2223095"/>
            <a:ext cx="48704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6B42"/>
                </a:solidFill>
                <a:latin typeface="Courier New" pitchFamily="49" charset="0"/>
                <a:ea typeface="Courier New" pitchFamily="49" charset="-122"/>
                <a:cs typeface="Courier New" pitchFamily="49" charset="-120"/>
              </a:rPr>
              <a:t>$199</a:t>
            </a:r>
            <a:endParaRPr lang="en-US" sz="2800" dirty="0"/>
          </a:p>
        </p:txBody>
      </p:sp>
      <p:sp>
        <p:nvSpPr>
          <p:cNvPr id="6" name="Text 4"/>
          <p:cNvSpPr/>
          <p:nvPr/>
        </p:nvSpPr>
        <p:spPr>
          <a:xfrm>
            <a:off x="1045633" y="2665016"/>
            <a:ext cx="48704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41D"/>
                </a:solidFill>
                <a:latin typeface="Arial" pitchFamily="34" charset="0"/>
                <a:ea typeface="Arial" pitchFamily="34" charset="-122"/>
                <a:cs typeface="Arial" pitchFamily="34" charset="-120"/>
              </a:rPr>
              <a:t>Express, not Standard, workflows</a:t>
            </a:r>
            <a:endParaRPr lang="en-US" sz="1500" dirty="0"/>
          </a:p>
        </p:txBody>
      </p:sp>
      <p:sp>
        <p:nvSpPr>
          <p:cNvPr id="7" name="Text 5"/>
          <p:cNvSpPr/>
          <p:nvPr/>
        </p:nvSpPr>
        <p:spPr>
          <a:xfrm>
            <a:off x="1045633" y="2944416"/>
            <a:ext cx="4870492"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45C"/>
                </a:solidFill>
                <a:latin typeface="Arial" pitchFamily="34" charset="0"/>
                <a:ea typeface="Arial" pitchFamily="34" charset="-122"/>
                <a:cs typeface="Arial" pitchFamily="34" charset="-120"/>
              </a:rPr>
              <a:t>Saved per month at 1M transactions ($20 at baseline)</a:t>
            </a:r>
            <a:endParaRPr lang="en-US" sz="1200" dirty="0"/>
          </a:p>
        </p:txBody>
      </p:sp>
      <p:sp>
        <p:nvSpPr>
          <p:cNvPr id="8" name="Shape 6"/>
          <p:cNvSpPr/>
          <p:nvPr/>
        </p:nvSpPr>
        <p:spPr>
          <a:xfrm>
            <a:off x="6188075" y="1697304"/>
            <a:ext cx="5187950" cy="1978687"/>
          </a:xfrm>
          <a:prstGeom prst="roundRect">
            <a:avLst>
              <a:gd name="adj" fmla="val 6258"/>
            </a:avLst>
          </a:prstGeom>
          <a:solidFill>
            <a:srgbClr val="FBF9F4"/>
          </a:solidFill>
          <a:ln w="6350">
            <a:solidFill>
              <a:srgbClr val="DDD8CB"/>
            </a:solidFill>
            <a:prstDash val="solid"/>
          </a:ln>
        </p:spPr>
      </p:sp>
      <p:sp>
        <p:nvSpPr>
          <p:cNvPr id="9" name="Text 7"/>
          <p:cNvSpPr/>
          <p:nvPr/>
        </p:nvSpPr>
        <p:spPr>
          <a:xfrm>
            <a:off x="6417733" y="2120243"/>
            <a:ext cx="48704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6B42"/>
                </a:solidFill>
                <a:latin typeface="Courier New" pitchFamily="49" charset="0"/>
                <a:ea typeface="Courier New" pitchFamily="49" charset="-122"/>
                <a:cs typeface="Courier New" pitchFamily="49" charset="-120"/>
              </a:rPr>
              <a:t>$168</a:t>
            </a:r>
            <a:endParaRPr lang="en-US" sz="2800" dirty="0"/>
          </a:p>
        </p:txBody>
      </p:sp>
      <p:sp>
        <p:nvSpPr>
          <p:cNvPr id="10" name="Text 8"/>
          <p:cNvSpPr/>
          <p:nvPr/>
        </p:nvSpPr>
        <p:spPr>
          <a:xfrm>
            <a:off x="6417733" y="2562163"/>
            <a:ext cx="48704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41D"/>
                </a:solidFill>
                <a:latin typeface="Arial" pitchFamily="34" charset="0"/>
                <a:ea typeface="Arial" pitchFamily="34" charset="-122"/>
                <a:cs typeface="Arial" pitchFamily="34" charset="-120"/>
              </a:rPr>
              <a:t>One NAT gateway, endpoints off</a:t>
            </a:r>
            <a:endParaRPr lang="en-US" sz="1500" dirty="0"/>
          </a:p>
        </p:txBody>
      </p:sp>
      <p:sp>
        <p:nvSpPr>
          <p:cNvPr id="11" name="Text 9"/>
          <p:cNvSpPr/>
          <p:nvPr/>
        </p:nvSpPr>
        <p:spPr>
          <a:xfrm>
            <a:off x="6417733" y="2841563"/>
            <a:ext cx="4870492"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45C"/>
                </a:solidFill>
                <a:latin typeface="Arial" pitchFamily="34" charset="0"/>
                <a:ea typeface="Arial" pitchFamily="34" charset="-122"/>
                <a:cs typeface="Arial" pitchFamily="34" charset="-120"/>
              </a:rPr>
              <a:t>Versus NAT per zone plus nine interface endpoints. Trade-off: single egress zone</a:t>
            </a:r>
            <a:endParaRPr lang="en-US" sz="1200" dirty="0"/>
          </a:p>
        </p:txBody>
      </p:sp>
      <p:sp>
        <p:nvSpPr>
          <p:cNvPr id="12" name="Shape 10"/>
          <p:cNvSpPr/>
          <p:nvPr/>
        </p:nvSpPr>
        <p:spPr>
          <a:xfrm>
            <a:off x="815975" y="3860143"/>
            <a:ext cx="5187950" cy="1978687"/>
          </a:xfrm>
          <a:prstGeom prst="roundRect">
            <a:avLst>
              <a:gd name="adj" fmla="val 6258"/>
            </a:avLst>
          </a:prstGeom>
          <a:solidFill>
            <a:srgbClr val="FBF9F4"/>
          </a:solidFill>
          <a:ln w="6350">
            <a:solidFill>
              <a:srgbClr val="DDD8CB"/>
            </a:solidFill>
            <a:prstDash val="solid"/>
          </a:ln>
        </p:spPr>
      </p:sp>
      <p:sp>
        <p:nvSpPr>
          <p:cNvPr id="13" name="Text 11"/>
          <p:cNvSpPr/>
          <p:nvPr/>
        </p:nvSpPr>
        <p:spPr>
          <a:xfrm>
            <a:off x="1045633" y="4385934"/>
            <a:ext cx="48704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6B42"/>
                </a:solidFill>
                <a:latin typeface="Courier New" pitchFamily="49" charset="0"/>
                <a:ea typeface="Courier New" pitchFamily="49" charset="-122"/>
                <a:cs typeface="Courier New" pitchFamily="49" charset="-120"/>
              </a:rPr>
              <a:t>$292</a:t>
            </a:r>
            <a:endParaRPr lang="en-US" sz="2800" dirty="0"/>
          </a:p>
        </p:txBody>
      </p:sp>
      <p:sp>
        <p:nvSpPr>
          <p:cNvPr id="14" name="Text 12"/>
          <p:cNvSpPr/>
          <p:nvPr/>
        </p:nvSpPr>
        <p:spPr>
          <a:xfrm>
            <a:off x="1045633" y="4827854"/>
            <a:ext cx="48704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41D"/>
                </a:solidFill>
                <a:latin typeface="Arial" pitchFamily="34" charset="0"/>
                <a:ea typeface="Arial" pitchFamily="34" charset="-122"/>
                <a:cs typeface="Arial" pitchFamily="34" charset="-120"/>
              </a:rPr>
              <a:t>Aurora Serverless v2</a:t>
            </a:r>
            <a:endParaRPr lang="en-US" sz="1500" dirty="0"/>
          </a:p>
        </p:txBody>
      </p:sp>
      <p:sp>
        <p:nvSpPr>
          <p:cNvPr id="15" name="Text 13"/>
          <p:cNvSpPr/>
          <p:nvPr/>
        </p:nvSpPr>
        <p:spPr>
          <a:xfrm>
            <a:off x="1045633" y="5107254"/>
            <a:ext cx="4870492"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45C"/>
                </a:solidFill>
                <a:latin typeface="Arial" pitchFamily="34" charset="0"/>
                <a:ea typeface="Arial" pitchFamily="34" charset="-122"/>
                <a:cs typeface="Arial" pitchFamily="34" charset="-120"/>
              </a:rPr>
              <a:t>Versus two provisioned r6g.large at baseline ($117 at 10x)</a:t>
            </a:r>
            <a:endParaRPr lang="en-US" sz="1200" dirty="0"/>
          </a:p>
        </p:txBody>
      </p:sp>
      <p:sp>
        <p:nvSpPr>
          <p:cNvPr id="16" name="Shape 14"/>
          <p:cNvSpPr/>
          <p:nvPr/>
        </p:nvSpPr>
        <p:spPr>
          <a:xfrm>
            <a:off x="6188075" y="3860143"/>
            <a:ext cx="5187950" cy="1978687"/>
          </a:xfrm>
          <a:prstGeom prst="roundRect">
            <a:avLst>
              <a:gd name="adj" fmla="val 6258"/>
            </a:avLst>
          </a:prstGeom>
          <a:solidFill>
            <a:srgbClr val="FBF9F4"/>
          </a:solidFill>
          <a:ln w="6350">
            <a:solidFill>
              <a:srgbClr val="DDD8CB"/>
            </a:solidFill>
            <a:prstDash val="solid"/>
          </a:ln>
        </p:spPr>
      </p:sp>
      <p:sp>
        <p:nvSpPr>
          <p:cNvPr id="17" name="Text 15"/>
          <p:cNvSpPr/>
          <p:nvPr/>
        </p:nvSpPr>
        <p:spPr>
          <a:xfrm>
            <a:off x="6417733" y="4283075"/>
            <a:ext cx="48704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6B42"/>
                </a:solidFill>
                <a:latin typeface="Courier New" pitchFamily="49" charset="0"/>
                <a:ea typeface="Courier New" pitchFamily="49" charset="-122"/>
                <a:cs typeface="Courier New" pitchFamily="49" charset="-120"/>
              </a:rPr>
              <a:t>$3</a:t>
            </a:r>
            <a:endParaRPr lang="en-US" sz="2800" dirty="0"/>
          </a:p>
        </p:txBody>
      </p:sp>
      <p:sp>
        <p:nvSpPr>
          <p:cNvPr id="18" name="Text 16"/>
          <p:cNvSpPr/>
          <p:nvPr/>
        </p:nvSpPr>
        <p:spPr>
          <a:xfrm>
            <a:off x="6417733" y="4724995"/>
            <a:ext cx="48704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41D"/>
                </a:solidFill>
                <a:latin typeface="Arial" pitchFamily="34" charset="0"/>
                <a:ea typeface="Arial" pitchFamily="34" charset="-122"/>
                <a:cs typeface="Arial" pitchFamily="34" charset="-120"/>
              </a:rPr>
              <a:t>Log retention and lifecycle rules</a:t>
            </a:r>
            <a:endParaRPr lang="en-US" sz="1500" dirty="0"/>
          </a:p>
        </p:txBody>
      </p:sp>
      <p:sp>
        <p:nvSpPr>
          <p:cNvPr id="19" name="Text 17"/>
          <p:cNvSpPr/>
          <p:nvPr/>
        </p:nvSpPr>
        <p:spPr>
          <a:xfrm>
            <a:off x="6417733" y="5004395"/>
            <a:ext cx="4870492"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45C"/>
                </a:solidFill>
                <a:latin typeface="Arial" pitchFamily="34" charset="0"/>
                <a:ea typeface="Arial" pitchFamily="34" charset="-122"/>
                <a:cs typeface="Arial" pitchFamily="34" charset="-120"/>
              </a:rPr>
              <a:t>14-day retention instead of never, saved per month at 10x; small but it compounds</a:t>
            </a:r>
            <a:endParaRPr lang="en-US" sz="1200"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Monthly savings, modelled in scripts/cost_model.py. Our first draft proposed VPC endpoints as a saving; modelling showed the reverse.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561A"/>
                </a:solidFill>
                <a:latin typeface="Arial" pitchFamily="34" charset="0"/>
                <a:ea typeface="Arial" pitchFamily="34" charset="-122"/>
                <a:cs typeface="Arial" pitchFamily="34" charset="-120"/>
              </a:rPr>
              <a:t>HONEST LIMITS</a:t>
            </a:r>
            <a:endParaRPr lang="en-US" sz="1300" dirty="0"/>
          </a:p>
        </p:txBody>
      </p:sp>
      <p:sp>
        <p:nvSpPr>
          <p:cNvPr id="3" name="Text 1"/>
          <p:cNvSpPr/>
          <p:nvPr>
            <p:ph type="title"/>
          </p:nvPr>
        </p:nvSpPr>
        <p:spPr>
          <a:xfrm>
            <a:off x="812800" y="1018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241D"/>
                </a:solidFill>
                <a:latin typeface="Arial" pitchFamily="34" charset="0"/>
                <a:ea typeface="Arial" pitchFamily="34" charset="-122"/>
                <a:cs typeface="Arial" pitchFamily="34" charset="-120"/>
              </a:rPr>
              <a:t>What we did not do, and what we would do next</a:t>
            </a:r>
            <a:endParaRPr lang="en-US" sz="3200" dirty="0"/>
          </a:p>
        </p:txBody>
      </p:sp>
      <p:sp>
        <p:nvSpPr>
          <p:cNvPr id="4" name="Shape 2"/>
          <p:cNvSpPr/>
          <p:nvPr/>
        </p:nvSpPr>
        <p:spPr>
          <a:xfrm>
            <a:off x="815975" y="1722710"/>
            <a:ext cx="5179483" cy="4116123"/>
          </a:xfrm>
          <a:prstGeom prst="roundRect">
            <a:avLst>
              <a:gd name="adj" fmla="val 3008"/>
            </a:avLst>
          </a:prstGeom>
          <a:solidFill>
            <a:srgbClr val="FBF9F4"/>
          </a:solidFill>
          <a:ln w="6350">
            <a:solidFill>
              <a:srgbClr val="DDD8CB"/>
            </a:solidFill>
            <a:prstDash val="solid"/>
          </a:ln>
        </p:spPr>
      </p:sp>
      <p:sp>
        <p:nvSpPr>
          <p:cNvPr id="5" name="Text 3"/>
          <p:cNvSpPr/>
          <p:nvPr/>
        </p:nvSpPr>
        <p:spPr>
          <a:xfrm>
            <a:off x="1071033" y="1977765"/>
            <a:ext cx="480944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1D"/>
                </a:solidFill>
                <a:latin typeface="Arial" pitchFamily="34" charset="0"/>
                <a:ea typeface="Arial" pitchFamily="34" charset="-122"/>
                <a:cs typeface="Arial" pitchFamily="34" charset="-120"/>
              </a:rPr>
              <a:t>Known limits</a:t>
            </a:r>
            <a:endParaRPr lang="en-US" sz="1800" dirty="0"/>
          </a:p>
        </p:txBody>
      </p:sp>
      <p:sp>
        <p:nvSpPr>
          <p:cNvPr id="6" name="Text 4"/>
          <p:cNvSpPr/>
          <p:nvPr/>
        </p:nvSpPr>
        <p:spPr>
          <a:xfrm>
            <a:off x="1161584" y="2379067"/>
            <a:ext cx="4711277" cy="1894152"/>
          </a:xfrm>
          <a:prstGeom prst="rect">
            <a:avLst/>
          </a:prstGeom>
          <a:noFill/>
          <a:ln/>
        </p:spPr>
        <p:txBody>
          <a:bodyPr wrap="square" lIns="0" tIns="0" rIns="0" bIns="0" rtlCol="0" anchor="t">
            <a:normAutofit/>
          </a:bodyPr>
          <a:lstStyle/>
          <a:p>
            <a:pPr algn="l" marL="163449" indent="-163449">
              <a:lnSpc>
                <a:spcPts val="2103"/>
              </a:lnSpc>
              <a:buSzPct val="100000"/>
              <a:buChar char="•"/>
            </a:pPr>
            <a:r>
              <a:rPr lang="en-US" sz="1450" dirty="0">
                <a:solidFill>
                  <a:srgbClr val="17251F"/>
                </a:solidFill>
                <a:latin typeface="Arial" pitchFamily="34" charset="0"/>
                <a:ea typeface="Arial" pitchFamily="34" charset="-122"/>
                <a:cs typeface="Arial" pitchFamily="34" charset="-120"/>
              </a:rPr>
              <a:t>The SQL ledger is weaker than QLDB against a superuser who rewrites a whole chain</a:t>
            </a:r>
            <a:endParaRPr lang="en-US" sz="1450" dirty="0"/>
          </a:p>
          <a:p>
            <a:pPr algn="l" marL="163449" indent="-163449">
              <a:lnSpc>
                <a:spcPts val="2103"/>
              </a:lnSpc>
              <a:buSzPct val="100000"/>
              <a:buChar char="•"/>
            </a:pPr>
            <a:r>
              <a:rPr lang="en-US" sz="1450" dirty="0">
                <a:solidFill>
                  <a:srgbClr val="17251F"/>
                </a:solidFill>
                <a:latin typeface="Arial" pitchFamily="34" charset="0"/>
                <a:ea typeface="Arial" pitchFamily="34" charset="-122"/>
                <a:cs typeface="Arial" pitchFamily="34" charset="-120"/>
              </a:rPr>
              <a:t>One NAT gateway is a single egress zone</a:t>
            </a:r>
            <a:endParaRPr lang="en-US" sz="1450" dirty="0"/>
          </a:p>
          <a:p>
            <a:pPr algn="l" marL="163449" indent="-163449">
              <a:lnSpc>
                <a:spcPts val="2103"/>
              </a:lnSpc>
              <a:buSzPct val="100000"/>
              <a:buChar char="•"/>
            </a:pPr>
            <a:r>
              <a:rPr lang="en-US" sz="1450" dirty="0">
                <a:solidFill>
                  <a:srgbClr val="17251F"/>
                </a:solidFill>
                <a:latin typeface="Arial" pitchFamily="34" charset="0"/>
                <a:ea typeface="Arial" pitchFamily="34" charset="-122"/>
                <a:cs typeface="Arial" pitchFamily="34" charset="-120"/>
              </a:rPr>
              <a:t>The load balancer uses a self-signed certificate until a domain is attached</a:t>
            </a:r>
            <a:endParaRPr lang="en-US" sz="1450" dirty="0"/>
          </a:p>
          <a:p>
            <a:pPr algn="l" marL="163449" indent="-163449">
              <a:lnSpc>
                <a:spcPts val="2103"/>
              </a:lnSpc>
              <a:buSzPct val="100000"/>
              <a:buChar char="•"/>
            </a:pPr>
            <a:r>
              <a:rPr lang="en-US" sz="1450" dirty="0">
                <a:solidFill>
                  <a:srgbClr val="17251F"/>
                </a:solidFill>
                <a:latin typeface="Arial" pitchFamily="34" charset="0"/>
                <a:ea typeface="Arial" pitchFamily="34" charset="-122"/>
                <a:cs typeface="Arial" pitchFamily="34" charset="-120"/>
              </a:rPr>
              <a:t>Stretch goals not built: multi-currency, recurring payments, ML fraud scoring</a:t>
            </a:r>
            <a:endParaRPr lang="en-US" sz="1450" dirty="0"/>
          </a:p>
        </p:txBody>
      </p:sp>
      <p:sp>
        <p:nvSpPr>
          <p:cNvPr id="7" name="Shape 5"/>
          <p:cNvSpPr/>
          <p:nvPr/>
        </p:nvSpPr>
        <p:spPr>
          <a:xfrm>
            <a:off x="6201833" y="1719535"/>
            <a:ext cx="5177367" cy="4122473"/>
          </a:xfrm>
          <a:prstGeom prst="roundRect">
            <a:avLst>
              <a:gd name="adj" fmla="val 3081"/>
            </a:avLst>
          </a:prstGeom>
          <a:solidFill>
            <a:srgbClr val="10241D"/>
          </a:solidFill>
          <a:ln/>
        </p:spPr>
      </p:sp>
      <p:sp>
        <p:nvSpPr>
          <p:cNvPr id="8" name="Text 6"/>
          <p:cNvSpPr/>
          <p:nvPr/>
        </p:nvSpPr>
        <p:spPr>
          <a:xfrm>
            <a:off x="6455833" y="1973535"/>
            <a:ext cx="480944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944F"/>
                </a:solidFill>
                <a:latin typeface="Arial" pitchFamily="34" charset="0"/>
                <a:ea typeface="Arial" pitchFamily="34" charset="-122"/>
                <a:cs typeface="Arial" pitchFamily="34" charset="-120"/>
              </a:rPr>
              <a:t>Next steps</a:t>
            </a:r>
            <a:endParaRPr lang="en-US" sz="1800" dirty="0"/>
          </a:p>
        </p:txBody>
      </p:sp>
      <p:sp>
        <p:nvSpPr>
          <p:cNvPr id="9" name="Text 7"/>
          <p:cNvSpPr/>
          <p:nvPr/>
        </p:nvSpPr>
        <p:spPr>
          <a:xfrm>
            <a:off x="6546384" y="2374838"/>
            <a:ext cx="4711277" cy="1627188"/>
          </a:xfrm>
          <a:prstGeom prst="rect">
            <a:avLst/>
          </a:prstGeom>
          <a:noFill/>
          <a:ln/>
        </p:spPr>
        <p:txBody>
          <a:bodyPr wrap="square" lIns="0" tIns="0" rIns="0" bIns="0" rtlCol="0" anchor="t">
            <a:normAutofit/>
          </a:bodyPr>
          <a:lstStyle/>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Publish ledger chain heads to write-once S3 each day</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Add RDS Proxy beyond about ten API tasks</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Expire idempotency keys after 24 hours</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Attach a real domain and ACM certificate</a:t>
            </a:r>
            <a:endParaRPr lang="en-US" sz="1450" dirty="0"/>
          </a:p>
          <a:p>
            <a:pPr algn="l" marL="163449" indent="-163449">
              <a:lnSpc>
                <a:spcPts val="2103"/>
              </a:lnSpc>
              <a:buSzPct val="100000"/>
              <a:buChar char="•"/>
            </a:pPr>
            <a:r>
              <a:rPr lang="en-US" sz="1450" dirty="0">
                <a:solidFill>
                  <a:srgbClr val="F4F1E8"/>
                </a:solidFill>
                <a:latin typeface="Arial" pitchFamily="34" charset="0"/>
                <a:ea typeface="Arial" pitchFamily="34" charset="-122"/>
                <a:cs typeface="Arial" pitchFamily="34" charset="-120"/>
              </a:rPr>
              <a:t>Add FX, then scheduled payments, on the existing currency field</a:t>
            </a:r>
            <a:endParaRPr lang="en-US" sz="145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5C"/>
                </a:solidFill>
                <a:latin typeface="Arial" pitchFamily="34" charset="0"/>
                <a:ea typeface="Arial" pitchFamily="34" charset="-122"/>
                <a:cs typeface="Arial" pitchFamily="34" charset="-120"/>
              </a:rPr>
              <a:t>Mobile Money Platform · Cloud Application Development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07B39"/>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0241D"/>
                </a:solidFill>
                <a:latin typeface="Arial" pitchFamily="34" charset="0"/>
                <a:ea typeface="Arial" pitchFamily="34" charset="-122"/>
                <a:cs typeface="Arial" pitchFamily="34" charset="-120"/>
              </a:rPr>
              <a:t>LIVE DEMO</a:t>
            </a:r>
            <a:endParaRPr lang="en-US" sz="1400" dirty="0"/>
          </a:p>
        </p:txBody>
      </p:sp>
      <p:sp>
        <p:nvSpPr>
          <p:cNvPr id="3" name="Text 1"/>
          <p:cNvSpPr/>
          <p:nvPr>
            <p:ph type="title"/>
          </p:nvPr>
        </p:nvSpPr>
        <p:spPr>
          <a:xfrm>
            <a:off x="812800" y="1137915"/>
            <a:ext cx="1088339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0241D"/>
                </a:solidFill>
                <a:latin typeface="Arial" pitchFamily="34" charset="0"/>
                <a:ea typeface="Arial" pitchFamily="34" charset="-122"/>
                <a:cs typeface="Arial" pitchFamily="34" charset="-120"/>
              </a:rPr>
              <a:t>Demo, then questions</a:t>
            </a:r>
            <a:endParaRPr lang="en-US" sz="4800" dirty="0"/>
          </a:p>
        </p:txBody>
      </p:sp>
      <p:sp>
        <p:nvSpPr>
          <p:cNvPr id="4" name="Text 2"/>
          <p:cNvSpPr/>
          <p:nvPr/>
        </p:nvSpPr>
        <p:spPr>
          <a:xfrm>
            <a:off x="798446" y="2082738"/>
            <a:ext cx="10890126" cy="1835150"/>
          </a:xfrm>
          <a:prstGeom prst="rect">
            <a:avLst/>
          </a:prstGeom>
          <a:noFill/>
          <a:ln/>
        </p:spPr>
        <p:txBody>
          <a:bodyPr wrap="square" lIns="0" tIns="0" rIns="0" bIns="0" rtlCol="0" anchor="t">
            <a:normAutofit/>
          </a:bodyPr>
          <a:lstStyle/>
          <a:p>
            <a:pPr algn="l" marL="268354" indent="-268354">
              <a:lnSpc>
                <a:spcPts val="2850"/>
              </a:lnSpc>
              <a:buSzPct val="100000"/>
              <a:buFontTx/>
              <a:buAutoNum type="arabicPeriod" startAt="1"/>
            </a:pPr>
            <a:r>
              <a:rPr lang="en-US" sz="1900" dirty="0">
                <a:solidFill>
                  <a:srgbClr val="10241D"/>
                </a:solidFill>
                <a:latin typeface="Arial" pitchFamily="34" charset="0"/>
                <a:ea typeface="Arial" pitchFamily="34" charset="-122"/>
                <a:cs typeface="Arial" pitchFamily="34" charset="-120"/>
              </a:rPr>
              <a:t>Replay one request 100 times: one debit</a:t>
            </a:r>
            <a:endParaRPr lang="en-US" sz="1900" dirty="0"/>
          </a:p>
          <a:p>
            <a:pPr algn="l" marL="268354" indent="-268354">
              <a:lnSpc>
                <a:spcPts val="2850"/>
              </a:lnSpc>
              <a:buSzPct val="100000"/>
              <a:buFontTx/>
              <a:buAutoNum type="arabicPeriod" startAt="1"/>
            </a:pPr>
            <a:r>
              <a:rPr lang="en-US" sz="1900" dirty="0">
                <a:solidFill>
                  <a:srgbClr val="10241D"/>
                </a:solidFill>
                <a:latin typeface="Arial" pitchFamily="34" charset="0"/>
                <a:ea typeface="Arial" pitchFamily="34" charset="-122"/>
                <a:cs typeface="Arial" pitchFamily="34" charset="-120"/>
              </a:rPr>
              <a:t>Crash the saga after the credit: money returns</a:t>
            </a:r>
            <a:endParaRPr lang="en-US" sz="1900" dirty="0"/>
          </a:p>
          <a:p>
            <a:pPr algn="l" marL="268354" indent="-268354">
              <a:lnSpc>
                <a:spcPts val="2850"/>
              </a:lnSpc>
              <a:buSzPct val="100000"/>
              <a:buFontTx/>
              <a:buAutoNum type="arabicPeriod" startAt="1"/>
            </a:pPr>
            <a:r>
              <a:rPr lang="en-US" sz="1900" dirty="0">
                <a:solidFill>
                  <a:srgbClr val="10241D"/>
                </a:solidFill>
                <a:latin typeface="Arial" pitchFamily="34" charset="0"/>
                <a:ea typeface="Arial" pitchFamily="34" charset="-122"/>
                <a:cs typeface="Arial" pitchFamily="34" charset="-120"/>
              </a:rPr>
              <a:t>Fire 50 concurrent transfers: never overdrawn</a:t>
            </a:r>
            <a:endParaRPr lang="en-US" sz="1900" dirty="0"/>
          </a:p>
          <a:p>
            <a:pPr algn="l" marL="268354" indent="-268354">
              <a:lnSpc>
                <a:spcPts val="2850"/>
              </a:lnSpc>
              <a:buSzPct val="100000"/>
              <a:buFontTx/>
              <a:buAutoNum type="arabicPeriod" startAt="1"/>
            </a:pPr>
            <a:r>
              <a:rPr lang="en-US" sz="1900" dirty="0">
                <a:solidFill>
                  <a:srgbClr val="10241D"/>
                </a:solidFill>
                <a:latin typeface="Arial" pitchFamily="34" charset="0"/>
                <a:ea typeface="Arial" pitchFamily="34" charset="-122"/>
                <a:cs typeface="Arial" pitchFamily="34" charset="-120"/>
              </a:rPr>
              <a:t>Roll back a broken release automatically</a:t>
            </a:r>
            <a:endParaRPr lang="en-US" sz="1900" dirty="0"/>
          </a:p>
          <a:p>
            <a:pPr algn="l" marL="268354" indent="-268354">
              <a:lnSpc>
                <a:spcPts val="2850"/>
              </a:lnSpc>
              <a:buSzPct val="100000"/>
              <a:buFontTx/>
              <a:buAutoNum type="arabicPeriod" startAt="1"/>
            </a:pPr>
            <a:r>
              <a:rPr lang="en-US" sz="1900" dirty="0">
                <a:solidFill>
                  <a:srgbClr val="10241D"/>
                </a:solidFill>
                <a:latin typeface="Arial" pitchFamily="34" charset="0"/>
                <a:ea typeface="Arial" pitchFamily="34" charset="-122"/>
                <a:cs typeface="Arial" pitchFamily="34" charset="-120"/>
              </a:rPr>
              <a:t>Dashboard, trace and alarm by correlation id</a:t>
            </a:r>
            <a:endParaRPr lang="en-US" sz="1900" dirty="0"/>
          </a:p>
        </p:txBody>
      </p:sp>
      <p:sp>
        <p:nvSpPr>
          <p:cNvPr id="5" name="Text 3"/>
          <p:cNvSpPr/>
          <p:nvPr/>
        </p:nvSpPr>
        <p:spPr>
          <a:xfrm>
            <a:off x="812800" y="6220495"/>
            <a:ext cx="98107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41D"/>
                </a:solidFill>
                <a:latin typeface="Arial" pitchFamily="34" charset="0"/>
                <a:ea typeface="Arial" pitchFamily="34" charset="-122"/>
                <a:cs typeface="Arial" pitchFamily="34" charset="-120"/>
              </a:rPr>
              <a:t>[Team member names] · Mobile Money Platform on AWS</a:t>
            </a:r>
            <a:endParaRPr lang="en-US" sz="1300" dirty="0"/>
          </a:p>
        </p:txBody>
      </p:sp>
    </p:spTree>
  </p:cSld>
  <p:clrMapOvr>
    <a:masterClrMapping/>
  </p:clrMapOvr>
</p:sld>
</file>

<file path=ppt/theme/theme1.xml><?xml version="1.0" encoding="utf-8"?>
<a:theme xmlns:a="http://schemas.openxmlformats.org/drawingml/2006/main" name="Mobile Money Platform on AWS">
  <a:themeElements>
    <a:clrScheme name="Mobile Money Platform on AWS">
      <a:dk1>
        <a:srgbClr val="10241D"/>
      </a:dk1>
      <a:lt1>
        <a:srgbClr val="F6F3EC"/>
      </a:lt1>
      <a:dk2>
        <a:srgbClr val="4A5851"/>
      </a:dk2>
      <a:lt2>
        <a:srgbClr val="DFDED7"/>
      </a:lt2>
      <a:accent1>
        <a:srgbClr val="B8561A"/>
      </a:accent1>
      <a:accent2>
        <a:srgbClr val="F0944F"/>
      </a:accent2>
      <a:accent3>
        <a:srgbClr val="1F6B42"/>
      </a:accent3>
      <a:accent4>
        <a:srgbClr val="E07B39"/>
      </a:accent4>
      <a:accent5>
        <a:srgbClr val="5FD08F"/>
      </a:accent5>
      <a:accent6>
        <a:srgbClr val="55645C"/>
      </a:accent6>
      <a:hlink>
        <a:srgbClr val="0563C1"/>
      </a:hlink>
      <a:folHlink>
        <a:srgbClr val="954F72"/>
      </a:folHlink>
    </a:clrScheme>
    <a:fontScheme name="Mobile Money Platform on AW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Money Platform on AWS</dc:title>
  <dc:subject/>
  <dc:creator/>
  <cp:lastModifiedBy/>
  <cp:revision>1</cp:revision>
  <dcterms:created xsi:type="dcterms:W3CDTF">2026-10-22T04:53:40Z</dcterms:created>
  <dcterms:modified xsi:type="dcterms:W3CDTF">2026-10-22T04:53:40Z</dcterms:modified>
</cp:coreProperties>
</file>